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tiêu buổi này: thống nhất một cách làm việc với AI đủ đơn giản để áp dụng ngay, cho giai đoạn định hình spec. Không phải quy trình phát triển hoàn chỉnh — chỉ là quy ước làm việc, nhưng đủ hợp lý để sau này thành một phần của quy trình chung.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vấn đề thực tế. Thứ nhất: cách dùng AI phân tán, không đồng đều. Thứ hai — quan trọng hơn: tri thức spec sinh ra ở tầng làm việc với khách hàng (Google Drive) không xuống được đầy đủ tới dev team và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nguyên tắc, theo thứ tự ưu tiên. Nhấn mạnh nguyên tắc 2: 'đẩy tối đa' là phân công lao động chứ không phải phụ thuộc — người giữ ba việc AI không thay được: quyết định, đàm phán, thẩm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chống lại thực tế: Drive vẫn là nơi làm việc với khách hàng. Nhưng vai trò được phân định — Drive là bề mặt giao tiếp, repo là nguồn sự thật duy nhất. Nhấn mạnh 'ai cầm bút': trên Drive SE tự tay là chính (thi thoảng nhờ AI); trên repo thì ngược lại — bàn với AI rồi bảo nó update, hiếm khi sửa tay, vì sửa tay đi vòng qua phần bookkeeping của AI (mục lục, liên kết chéo) khiến cơ cấu lặng lẽ lệch. Điểm mấu chốt ở callout: chuyển đổi theo sự kiện giải quyết luôn bài toán 'file Drive bị sửa sau khi đã chuyển đổi'.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quan trọng nhất — đây là TOÀN BỘ những gì một người cần thuộc. Nếu team chỉ nhớ được một slide, hãy nhớ slide này. Mọi thứ còn lại đã được dồn sang phần quy tắc cho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nghi thức gắn với thời điểm cụ thể — quy ước chết khi không có 'lúc nào' được định nghĩa. Nhấn mạnh bước 3: người review văn AI trôi chảy rất dễ gật cho qua, nên dùng 2 kỹ thuật thay vì đọc-đối-chiếu thủ công. Cuối cùng: bảo mật — theo quy định AI tool của công 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version hóa nội dung nhưng không nói lên trạng thái thỏa thuận. Một dòng status rẻ nhưng sống còn với Bridge SE — agreed-customer có tính ràng buộc gần như hợp đồng, AI cũng bị cấm tự sửa các file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Ở giai đoạn requirement/basic design, thứ khan hiếm là quyết định và lý do — không phải chữ. ADR = Architecture Decision Record: bản ghi vài dòng cho một quyết định khó đảo ngược (bối cảnh → quyết định → hậu quả); ở đây dùng nghĩa rộng, gồm cả quyết định spec với khách hàng. Về sơ đồ: Mermaid là mặc định; PlantUML khi cần UML chuẩn (Mermaid không có activity diagram chuẩn với swimlane); drawio cho bản vẽ tay / cần layout, lưu dạng .drawio.svg. Nguyên tắc chốt: sự thật nằm ở text, sơ đồ chỉ là view — lệch nhau thì text thắng.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Chuỗi nạp: con trỏ của tool (CLAUDE.md / .cursor/rules) → AGENTS.md của dự án → adapter AGENTS-SystemDesign.md (chỉ 3 hành vi luôn trực chiến: trigger vào vùng docs, đề nghị ghi quyết định, chốt an toàn agreed-customer) → luật vùng docs/SystemDesign/AGENTS.md, nạp khi cần. Bộ của ta là 2 file cuối, gắn vào AGENTS.md có sẵn của dự án bằng 1 dòng link — không trộn nội dung, nâng cấp chỉ copy đè. Quy ước nằm trong repo nên tự áp dụng cho mọi người, không phụ thuộc ai dự buổi chia sẻ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Bottleneck chuyển từ 'viết' sang 'review' — đó là trao đổi có chủ đích, nhưng phải gọi tên rủi ro của nó. Bốn rủi ro này đều có biện pháp phòng đã cài sẵn trong quy 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quy ước này là tài liệu sống — áp dụng thử, vướng đâu sửa đó. Ba câu cuối là tinh thần của toàn bộ cách làm: con người quyết định, AI ghi chép, repo ghi nhớ.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229600" y="1554480"/>
            <a:ext cx="2468880" cy="1417320"/>
          </a:xfrm>
          <a:prstGeom prst="roundRect">
            <a:avLst>
              <a:gd name="adj" fmla="val 5161"/>
            </a:avLst>
          </a:prstGeom>
          <a:solidFill>
            <a:srgbClr val="CADCFC">
              <a:alpha val="28000"/>
            </a:srgbClr>
          </a:solidFill>
          <a:ln/>
        </p:spPr>
      </p:sp>
      <p:sp>
        <p:nvSpPr>
          <p:cNvPr id="3" name="Shape 1"/>
          <p:cNvSpPr/>
          <p:nvPr/>
        </p:nvSpPr>
        <p:spPr>
          <a:xfrm>
            <a:off x="8823960" y="2423160"/>
            <a:ext cx="2468880" cy="1417320"/>
          </a:xfrm>
          <a:prstGeom prst="roundRect">
            <a:avLst>
              <a:gd name="adj" fmla="val 5161"/>
            </a:avLst>
          </a:prstGeom>
          <a:solidFill>
            <a:srgbClr val="CADCFC">
              <a:alpha val="55000"/>
            </a:srgbClr>
          </a:solidFill>
          <a:ln/>
        </p:spPr>
      </p:sp>
      <p:sp>
        <p:nvSpPr>
          <p:cNvPr id="4" name="Shape 2"/>
          <p:cNvSpPr/>
          <p:nvPr/>
        </p:nvSpPr>
        <p:spPr>
          <a:xfrm>
            <a:off x="9418320" y="3291840"/>
            <a:ext cx="2468880" cy="1463040"/>
          </a:xfrm>
          <a:prstGeom prst="roundRect">
            <a:avLst>
              <a:gd name="adj" fmla="val 5000"/>
            </a:avLst>
          </a:prstGeom>
          <a:solidFill>
            <a:srgbClr val="02C39A"/>
          </a:solidFill>
          <a:ln/>
          <a:effectLst>
            <a:outerShdw sx="100000" sy="100000" kx="0" ky="0" algn="bl" rotWithShape="0" blurRad="88900" dist="25400" dir="5400000">
              <a:srgbClr val="1E2761">
                <a:alpha val="22000"/>
              </a:srgbClr>
            </a:outerShdw>
          </a:effectLst>
        </p:spPr>
      </p:sp>
      <p:sp>
        <p:nvSpPr>
          <p:cNvPr id="5" name="Text 3"/>
          <p:cNvSpPr/>
          <p:nvPr/>
        </p:nvSpPr>
        <p:spPr>
          <a:xfrm>
            <a:off x="9418320" y="3456432"/>
            <a:ext cx="2468880" cy="457200"/>
          </a:xfrm>
          <a:prstGeom prst="rect">
            <a:avLst/>
          </a:prstGeom>
          <a:noFill/>
          <a:ln/>
        </p:spPr>
        <p:txBody>
          <a:bodyPr wrap="square" lIns="0" tIns="0" rIns="0" bIns="0" rtlCol="0" anchor="ctr"/>
          <a:lstStyle/>
          <a:p>
            <a:pPr algn="ctr" indent="0" marL="0">
              <a:buNone/>
            </a:pPr>
            <a:r>
              <a:rPr lang="en-US" sz="1600" b="1" dirty="0">
                <a:solidFill>
                  <a:srgbClr val="1E2761"/>
                </a:solidFill>
                <a:latin typeface="Courier New" pitchFamily="34" charset="0"/>
                <a:ea typeface="Courier New" pitchFamily="34" charset="-122"/>
                <a:cs typeface="Courier New" pitchFamily="34" charset="-120"/>
              </a:rPr>
              <a:t>docs/</a:t>
            </a:r>
            <a:endParaRPr lang="en-US" sz="1600" dirty="0"/>
          </a:p>
        </p:txBody>
      </p:sp>
      <p:sp>
        <p:nvSpPr>
          <p:cNvPr id="6" name="Text 4"/>
          <p:cNvSpPr/>
          <p:nvPr/>
        </p:nvSpPr>
        <p:spPr>
          <a:xfrm>
            <a:off x="9418320" y="3913632"/>
            <a:ext cx="2468880" cy="365760"/>
          </a:xfrm>
          <a:prstGeom prst="rect">
            <a:avLst/>
          </a:prstGeom>
          <a:noFill/>
          <a:ln/>
        </p:spPr>
        <p:txBody>
          <a:bodyPr wrap="square" lIns="0" tIns="0" rIns="0" bIns="0" rtlCol="0" anchor="ctr"/>
          <a:lstStyle/>
          <a:p>
            <a:pPr algn="ctr" indent="0" marL="0">
              <a:buNone/>
            </a:pPr>
            <a:r>
              <a:rPr lang="en-US" sz="1100" dirty="0">
                <a:solidFill>
                  <a:srgbClr val="1E2761"/>
                </a:solidFill>
                <a:latin typeface="Calibri" pitchFamily="34" charset="0"/>
                <a:ea typeface="Calibri" pitchFamily="34" charset="-122"/>
                <a:cs typeface="Calibri" pitchFamily="34" charset="-120"/>
              </a:rPr>
              <a:t>markdown · AI-first</a:t>
            </a:r>
            <a:endParaRPr lang="en-US" sz="1100" dirty="0"/>
          </a:p>
        </p:txBody>
      </p:sp>
      <p:sp>
        <p:nvSpPr>
          <p:cNvPr id="7" name="Text 5"/>
          <p:cNvSpPr/>
          <p:nvPr/>
        </p:nvSpPr>
        <p:spPr>
          <a:xfrm>
            <a:off x="640080" y="1783080"/>
            <a:ext cx="6858000" cy="365760"/>
          </a:xfrm>
          <a:prstGeom prst="rect">
            <a:avLst/>
          </a:prstGeom>
          <a:noFill/>
          <a:ln/>
        </p:spPr>
        <p:txBody>
          <a:bodyPr wrap="square" lIns="0" tIns="0" rIns="0" bIns="0" rtlCol="0" anchor="ctr"/>
          <a:lstStyle/>
          <a:p>
            <a:pPr indent="0" marL="0">
              <a:buNone/>
            </a:pPr>
            <a:r>
              <a:rPr lang="en-US" sz="1300" b="1" spc="400" kern="0" dirty="0">
                <a:solidFill>
                  <a:srgbClr val="02C39A"/>
                </a:solidFill>
                <a:latin typeface="Calibri" pitchFamily="34" charset="0"/>
                <a:ea typeface="Calibri" pitchFamily="34" charset="-122"/>
                <a:cs typeface="Calibri" pitchFamily="34" charset="-120"/>
              </a:rPr>
              <a:t>QUY ƯỚC LÀM VIỆC</a:t>
            </a:r>
            <a:endParaRPr lang="en-US" sz="1300" dirty="0"/>
          </a:p>
        </p:txBody>
      </p:sp>
      <p:sp>
        <p:nvSpPr>
          <p:cNvPr id="8" name="Text 6"/>
          <p:cNvSpPr/>
          <p:nvPr/>
        </p:nvSpPr>
        <p:spPr>
          <a:xfrm>
            <a:off x="640080" y="2148840"/>
            <a:ext cx="7498080" cy="173736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Làm việc cùng AI</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trong thiết kế hệ thống</a:t>
            </a:r>
            <a:endParaRPr lang="en-US" sz="4000" dirty="0"/>
          </a:p>
        </p:txBody>
      </p:sp>
      <p:sp>
        <p:nvSpPr>
          <p:cNvPr id="9" name="Text 7"/>
          <p:cNvSpPr/>
          <p:nvPr/>
        </p:nvSpPr>
        <p:spPr>
          <a:xfrm>
            <a:off x="640080" y="3977640"/>
            <a:ext cx="7132320" cy="457200"/>
          </a:xfrm>
          <a:prstGeom prst="rect">
            <a:avLst/>
          </a:prstGeom>
          <a:noFill/>
          <a:ln/>
        </p:spPr>
        <p:txBody>
          <a:bodyPr wrap="square" lIns="0" tIns="0" rIns="0" bIns="0" rtlCol="0" anchor="ctr"/>
          <a:lstStyle/>
          <a:p>
            <a:pPr indent="0" marL="0">
              <a:buNone/>
            </a:pPr>
            <a:r>
              <a:rPr lang="en-US" sz="1700" dirty="0">
                <a:solidFill>
                  <a:srgbClr val="CADCFC"/>
                </a:solidFill>
                <a:latin typeface="Calibri" pitchFamily="34" charset="0"/>
                <a:ea typeface="Calibri" pitchFamily="34" charset="-122"/>
                <a:cs typeface="Calibri" pitchFamily="34" charset="-120"/>
              </a:rPr>
              <a:t>Dành cho SE / Bridge SE — giai đoạn requirement đến basic design</a:t>
            </a:r>
            <a:endParaRPr lang="en-US" sz="1700" dirty="0"/>
          </a:p>
        </p:txBody>
      </p:sp>
      <p:sp>
        <p:nvSpPr>
          <p:cNvPr id="10" name="Text 8"/>
          <p:cNvSpPr/>
          <p:nvPr/>
        </p:nvSpPr>
        <p:spPr>
          <a:xfrm>
            <a:off x="640080" y="6172200"/>
            <a:ext cx="6858000" cy="320040"/>
          </a:xfrm>
          <a:prstGeom prst="rect">
            <a:avLst/>
          </a:prstGeom>
          <a:noFill/>
          <a:ln/>
        </p:spPr>
        <p:txBody>
          <a:bodyPr wrap="square" lIns="0" tIns="0" rIns="0" bIns="0" rtlCol="0" anchor="ctr"/>
          <a:lstStyle/>
          <a:p>
            <a:pPr indent="0" marL="0">
              <a:buNone/>
            </a:pPr>
            <a:r>
              <a:rPr lang="en-US" sz="1100" dirty="0">
                <a:solidFill>
                  <a:srgbClr val="CADCFC">
                    <a:alpha val="80000"/>
                  </a:srgbClr>
                </a:solidFill>
                <a:latin typeface="Calibri" pitchFamily="34" charset="0"/>
                <a:ea typeface="Calibri" pitchFamily="34" charset="-122"/>
                <a:cs typeface="Calibri" pitchFamily="34" charset="-120"/>
              </a:rPr>
              <a:t>Nguồn: docs/AiAssistant/AiAssistant.md  ·  2026-08</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10972800" cy="292608"/>
          </a:xfrm>
          <a:prstGeom prst="rect">
            <a:avLst/>
          </a:prstGeom>
          <a:noFill/>
          <a:ln/>
        </p:spPr>
        <p:txBody>
          <a:bodyPr wrap="square" lIns="0" tIns="0" rIns="0" bIns="0" rtlCol="0" anchor="ctr"/>
          <a:lstStyle/>
          <a:p>
            <a:pPr indent="0" marL="0">
              <a:buNone/>
            </a:pPr>
            <a:r>
              <a:rPr lang="en-US" sz="1200" b="1" spc="300" kern="0" dirty="0">
                <a:solidFill>
                  <a:srgbClr val="02C39A"/>
                </a:solidFill>
                <a:latin typeface="Calibri" pitchFamily="34" charset="0"/>
                <a:ea typeface="Calibri" pitchFamily="34" charset="-122"/>
                <a:cs typeface="Calibri" pitchFamily="34" charset="-120"/>
              </a:rPr>
              <a:t>VẤN ĐỀ</a:t>
            </a:r>
            <a:endParaRPr lang="en-US" sz="1200" dirty="0"/>
          </a:p>
        </p:txBody>
      </p:sp>
      <p:sp>
        <p:nvSpPr>
          <p:cNvPr id="3" name="Text 1"/>
          <p:cNvSpPr/>
          <p:nvPr/>
        </p:nvSpPr>
        <p:spPr>
          <a:xfrm>
            <a:off x="548640" y="621792"/>
            <a:ext cx="11064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Vì sao cần quy ước này?</a:t>
            </a:r>
            <a:endParaRPr lang="en-US" sz="3000" dirty="0"/>
          </a:p>
        </p:txBody>
      </p:sp>
      <p:sp>
        <p:nvSpPr>
          <p:cNvPr id="4" name="Shape 2"/>
          <p:cNvSpPr/>
          <p:nvPr/>
        </p:nvSpPr>
        <p:spPr>
          <a:xfrm>
            <a:off x="548640" y="1600200"/>
            <a:ext cx="5440680" cy="4297680"/>
          </a:xfrm>
          <a:prstGeom prst="roundRect">
            <a:avLst>
              <a:gd name="adj" fmla="val 1915"/>
            </a:avLst>
          </a:prstGeom>
          <a:solidFill>
            <a:srgbClr val="EEF3FB"/>
          </a:solidFill>
          <a:ln/>
          <a:effectLst>
            <a:outerShdw sx="100000" sy="100000" kx="0" ky="0" algn="bl" rotWithShape="0" blurRad="88900" dist="25400" dir="5400000">
              <a:srgbClr val="1E2761">
                <a:alpha val="22000"/>
              </a:srgbClr>
            </a:outerShdw>
          </a:effectLst>
        </p:spPr>
      </p:sp>
      <p:sp>
        <p:nvSpPr>
          <p:cNvPr id="5" name="Shape 3"/>
          <p:cNvSpPr/>
          <p:nvPr/>
        </p:nvSpPr>
        <p:spPr>
          <a:xfrm>
            <a:off x="868680" y="1920240"/>
            <a:ext cx="603504" cy="603504"/>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1025591" y="2077151"/>
            <a:ext cx="289682" cy="289682"/>
          </a:xfrm>
          <a:prstGeom prst="rect">
            <a:avLst/>
          </a:prstGeom>
        </p:spPr>
      </p:pic>
      <p:sp>
        <p:nvSpPr>
          <p:cNvPr id="7" name="Text 4"/>
          <p:cNvSpPr/>
          <p:nvPr/>
        </p:nvSpPr>
        <p:spPr>
          <a:xfrm>
            <a:off x="868680" y="2651760"/>
            <a:ext cx="4800600" cy="45720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Mỗi người dùng AI một kiểu</a:t>
            </a:r>
            <a:endParaRPr lang="en-US" sz="1900" dirty="0"/>
          </a:p>
        </p:txBody>
      </p:sp>
      <p:sp>
        <p:nvSpPr>
          <p:cNvPr id="8" name="Text 5"/>
          <p:cNvSpPr/>
          <p:nvPr/>
        </p:nvSpPr>
        <p:spPr>
          <a:xfrm>
            <a:off x="868680" y="3200400"/>
            <a:ext cx="4800600" cy="2468880"/>
          </a:xfrm>
          <a:prstGeom prst="rect">
            <a:avLst/>
          </a:prstGeom>
          <a:noFill/>
          <a:ln/>
        </p:spPr>
        <p:txBody>
          <a:bodyPr wrap="square" lIns="0" tIns="0" rIns="0" bIns="0" rtlCol="0" anchor="t"/>
          <a:lstStyle/>
          <a:p>
            <a:pPr marL="152400" indent="-152400">
              <a:lnSpc>
                <a:spcPct val="106000"/>
              </a:lnSpc>
              <a:spcAft>
                <a:spcPts val="800"/>
              </a:spcAft>
              <a:buSzPct val="100000"/>
              <a:buChar char="–"/>
            </a:pPr>
            <a:r>
              <a:rPr lang="en-US" sz="1400" dirty="0">
                <a:solidFill>
                  <a:srgbClr val="22263B"/>
                </a:solidFill>
                <a:latin typeface="Calibri" pitchFamily="34" charset="0"/>
                <a:ea typeface="Calibri" pitchFamily="34" charset="-122"/>
                <a:cs typeface="Calibri" pitchFamily="34" charset="-120"/>
              </a:rPr>
              <a:t>Dùng AI theo kinh nghiệm và sự tự học của riêng mỗi người</a:t>
            </a:r>
            <a:endParaRPr lang="en-US" sz="1400" dirty="0"/>
          </a:p>
          <a:p>
            <a:pPr marL="152400" indent="-152400">
              <a:lnSpc>
                <a:spcPct val="106000"/>
              </a:lnSpc>
              <a:spcAft>
                <a:spcPts val="800"/>
              </a:spcAft>
              <a:buSzPct val="100000"/>
              <a:buChar char="–"/>
            </a:pPr>
            <a:r>
              <a:rPr lang="en-US" sz="1400" dirty="0">
                <a:solidFill>
                  <a:srgbClr val="22263B"/>
                </a:solidFill>
                <a:latin typeface="Calibri" pitchFamily="34" charset="0"/>
                <a:ea typeface="Calibri" pitchFamily="34" charset="-122"/>
                <a:cs typeface="Calibri" pitchFamily="34" charset="-120"/>
              </a:rPr>
              <a:t>Buổi chia sẻ không đến được tất cả — nghe không đồng nghĩa với hiểu, nếu không tự làm</a:t>
            </a:r>
            <a:endParaRPr lang="en-US" sz="1400" dirty="0"/>
          </a:p>
          <a:p>
            <a:pPr marL="152400" indent="-152400">
              <a:lnSpc>
                <a:spcPct val="106000"/>
              </a:lnSpc>
              <a:spcAft>
                <a:spcPts val="800"/>
              </a:spcAft>
              <a:buSzPct val="100000"/>
              <a:buChar char="–"/>
            </a:pPr>
            <a:r>
              <a:rPr lang="en-US" sz="1400" dirty="0">
                <a:solidFill>
                  <a:srgbClr val="22263B"/>
                </a:solidFill>
                <a:latin typeface="Calibri" pitchFamily="34" charset="0"/>
                <a:ea typeface="Calibri" pitchFamily="34" charset="-122"/>
                <a:cs typeface="Calibri" pitchFamily="34" charset="-120"/>
              </a:rPr>
              <a:t>Tri thức “cách làm hiệu quả” không tích lũy thành tài sản chung của team</a:t>
            </a:r>
            <a:endParaRPr lang="en-US" sz="1400" dirty="0"/>
          </a:p>
        </p:txBody>
      </p:sp>
      <p:sp>
        <p:nvSpPr>
          <p:cNvPr id="9" name="Shape 6"/>
          <p:cNvSpPr/>
          <p:nvPr/>
        </p:nvSpPr>
        <p:spPr>
          <a:xfrm>
            <a:off x="6199632" y="1600200"/>
            <a:ext cx="5440680" cy="4297680"/>
          </a:xfrm>
          <a:prstGeom prst="roundRect">
            <a:avLst>
              <a:gd name="adj" fmla="val 1915"/>
            </a:avLst>
          </a:prstGeom>
          <a:solidFill>
            <a:srgbClr val="EEF3FB"/>
          </a:solidFill>
          <a:ln/>
          <a:effectLst>
            <a:outerShdw sx="100000" sy="100000" kx="0" ky="0" algn="bl" rotWithShape="0" blurRad="88900" dist="25400" dir="5400000">
              <a:srgbClr val="1E2761">
                <a:alpha val="22000"/>
              </a:srgbClr>
            </a:outerShdw>
          </a:effectLst>
        </p:spPr>
      </p:sp>
      <p:sp>
        <p:nvSpPr>
          <p:cNvPr id="10" name="Shape 7"/>
          <p:cNvSpPr/>
          <p:nvPr/>
        </p:nvSpPr>
        <p:spPr>
          <a:xfrm>
            <a:off x="6519672" y="1920240"/>
            <a:ext cx="603504" cy="603504"/>
          </a:xfrm>
          <a:prstGeom prst="ellipse">
            <a:avLst/>
          </a:prstGeom>
          <a:solidFill>
            <a:srgbClr val="1E2761"/>
          </a:solidFill>
          <a:ln/>
        </p:spPr>
      </p:sp>
      <p:pic>
        <p:nvPicPr>
          <p:cNvPr id="11" name="Image 1" descr="preencoded.png">    </p:cNvPr>
          <p:cNvPicPr>
            <a:picLocks noChangeAspect="1"/>
          </p:cNvPicPr>
          <p:nvPr/>
        </p:nvPicPr>
        <p:blipFill>
          <a:blip r:embed="rId2"/>
          <a:stretch>
            <a:fillRect/>
          </a:stretch>
        </p:blipFill>
        <p:spPr>
          <a:xfrm>
            <a:off x="6676583" y="2077151"/>
            <a:ext cx="289682" cy="289682"/>
          </a:xfrm>
          <a:prstGeom prst="rect">
            <a:avLst/>
          </a:prstGeom>
        </p:spPr>
      </p:pic>
      <p:sp>
        <p:nvSpPr>
          <p:cNvPr id="12" name="Text 8"/>
          <p:cNvSpPr/>
          <p:nvPr/>
        </p:nvSpPr>
        <p:spPr>
          <a:xfrm>
            <a:off x="6519672" y="2651760"/>
            <a:ext cx="4800600" cy="45720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Tri thức spec rơi rụng giữa hai tầng</a:t>
            </a:r>
            <a:endParaRPr lang="en-US" sz="1900" dirty="0"/>
          </a:p>
        </p:txBody>
      </p:sp>
      <p:sp>
        <p:nvSpPr>
          <p:cNvPr id="13" name="Text 9"/>
          <p:cNvSpPr/>
          <p:nvPr/>
        </p:nvSpPr>
        <p:spPr>
          <a:xfrm>
            <a:off x="6519672" y="3200400"/>
            <a:ext cx="4800600" cy="2468880"/>
          </a:xfrm>
          <a:prstGeom prst="rect">
            <a:avLst/>
          </a:prstGeom>
          <a:noFill/>
          <a:ln/>
        </p:spPr>
        <p:txBody>
          <a:bodyPr wrap="square" lIns="0" tIns="0" rIns="0" bIns="0" rtlCol="0" anchor="t"/>
          <a:lstStyle/>
          <a:p>
            <a:pPr marL="152400" indent="-152400">
              <a:lnSpc>
                <a:spcPct val="106000"/>
              </a:lnSpc>
              <a:spcAft>
                <a:spcPts val="800"/>
              </a:spcAft>
              <a:buSzPct val="100000"/>
              <a:buChar char="–"/>
            </a:pPr>
            <a:r>
              <a:rPr lang="en-US" sz="1400" dirty="0">
                <a:solidFill>
                  <a:srgbClr val="22263B"/>
                </a:solidFill>
                <a:latin typeface="Calibri" pitchFamily="34" charset="0"/>
                <a:ea typeface="Calibri" pitchFamily="34" charset="-122"/>
                <a:cs typeface="Calibri" pitchFamily="34" charset="-120"/>
              </a:rPr>
              <a:t>Cấp cao (khách hàng, super SE, leader) làm việc trên Google Docs / Sheet / Slide</a:t>
            </a:r>
            <a:endParaRPr lang="en-US" sz="1400" dirty="0"/>
          </a:p>
          <a:p>
            <a:pPr marL="152400" indent="-152400">
              <a:lnSpc>
                <a:spcPct val="106000"/>
              </a:lnSpc>
              <a:spcAft>
                <a:spcPts val="800"/>
              </a:spcAft>
              <a:buSzPct val="100000"/>
              <a:buChar char="–"/>
            </a:pPr>
            <a:r>
              <a:rPr lang="en-US" sz="1400" dirty="0">
                <a:solidFill>
                  <a:srgbClr val="22263B"/>
                </a:solidFill>
                <a:latin typeface="Calibri" pitchFamily="34" charset="0"/>
                <a:ea typeface="Calibri" pitchFamily="34" charset="-122"/>
                <a:cs typeface="Calibri" pitchFamily="34" charset="-120"/>
              </a:rPr>
              <a:t>Dev team + AI làm việc với text trong repo, qua IDE</a:t>
            </a:r>
            <a:endParaRPr lang="en-US" sz="1400" dirty="0"/>
          </a:p>
          <a:p>
            <a:pPr marL="152400" indent="-152400">
              <a:lnSpc>
                <a:spcPct val="106000"/>
              </a:lnSpc>
              <a:spcAft>
                <a:spcPts val="800"/>
              </a:spcAft>
              <a:buSzPct val="100000"/>
              <a:buChar char="–"/>
            </a:pPr>
            <a:r>
              <a:rPr lang="en-US" sz="1400" dirty="0">
                <a:solidFill>
                  <a:srgbClr val="22263B"/>
                </a:solidFill>
                <a:latin typeface="Calibri" pitchFamily="34" charset="0"/>
                <a:ea typeface="Calibri" pitchFamily="34" charset="-122"/>
                <a:cs typeface="Calibri" pitchFamily="34" charset="-120"/>
              </a:rPr>
              <a:t>Ghi chép tốn công nghĩ “lưu vào đâu” → người ta ghi ít đi</a:t>
            </a:r>
            <a:endParaRPr lang="en-US" sz="1400" dirty="0"/>
          </a:p>
          <a:p>
            <a:pPr marL="152400" indent="-152400">
              <a:lnSpc>
                <a:spcPct val="106000"/>
              </a:lnSpc>
              <a:spcAft>
                <a:spcPts val="800"/>
              </a:spcAft>
              <a:buSzPct val="100000"/>
              <a:buChar char="–"/>
            </a:pPr>
            <a:r>
              <a:rPr lang="en-US" sz="1400" dirty="0">
                <a:solidFill>
                  <a:srgbClr val="22263B"/>
                </a:solidFill>
                <a:latin typeface="Calibri" pitchFamily="34" charset="0"/>
                <a:ea typeface="Calibri" pitchFamily="34" charset="-122"/>
                <a:cs typeface="Calibri" pitchFamily="34" charset="-120"/>
              </a:rPr>
              <a:t>Truyền đạt xuống thiếu sót → team và AI làm việc trên thông tin thiếu</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10972800" cy="292608"/>
          </a:xfrm>
          <a:prstGeom prst="rect">
            <a:avLst/>
          </a:prstGeom>
          <a:noFill/>
          <a:ln/>
        </p:spPr>
        <p:txBody>
          <a:bodyPr wrap="square" lIns="0" tIns="0" rIns="0" bIns="0" rtlCol="0" anchor="ctr"/>
          <a:lstStyle/>
          <a:p>
            <a:pPr indent="0" marL="0">
              <a:buNone/>
            </a:pPr>
            <a:r>
              <a:rPr lang="en-US" sz="1200" b="1" spc="300" kern="0" dirty="0">
                <a:solidFill>
                  <a:srgbClr val="02C39A"/>
                </a:solidFill>
                <a:latin typeface="Calibri" pitchFamily="34" charset="0"/>
                <a:ea typeface="Calibri" pitchFamily="34" charset="-122"/>
                <a:cs typeface="Calibri" pitchFamily="34" charset="-120"/>
              </a:rPr>
              <a:t>TRIẾT LÝ</a:t>
            </a:r>
            <a:endParaRPr lang="en-US" sz="1200" dirty="0"/>
          </a:p>
        </p:txBody>
      </p:sp>
      <p:sp>
        <p:nvSpPr>
          <p:cNvPr id="3" name="Text 1"/>
          <p:cNvSpPr/>
          <p:nvPr/>
        </p:nvSpPr>
        <p:spPr>
          <a:xfrm>
            <a:off x="548640" y="621792"/>
            <a:ext cx="11064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Bốn nguyên tắc nền tảng</a:t>
            </a:r>
            <a:endParaRPr lang="en-US" sz="3000" dirty="0"/>
          </a:p>
        </p:txBody>
      </p:sp>
      <p:sp>
        <p:nvSpPr>
          <p:cNvPr id="4" name="Shape 2"/>
          <p:cNvSpPr/>
          <p:nvPr/>
        </p:nvSpPr>
        <p:spPr>
          <a:xfrm>
            <a:off x="548640" y="1645920"/>
            <a:ext cx="5440680" cy="2011680"/>
          </a:xfrm>
          <a:prstGeom prst="roundRect">
            <a:avLst>
              <a:gd name="adj" fmla="val 4091"/>
            </a:avLst>
          </a:prstGeom>
          <a:solidFill>
            <a:srgbClr val="EEF3FB"/>
          </a:solidFill>
          <a:ln/>
          <a:effectLst>
            <a:outerShdw sx="100000" sy="100000" kx="0" ky="0" algn="bl" rotWithShape="0" blurRad="88900" dist="25400" dir="5400000">
              <a:srgbClr val="1E2761">
                <a:alpha val="22000"/>
              </a:srgbClr>
            </a:outerShdw>
          </a:effectLst>
        </p:spPr>
      </p:sp>
      <p:sp>
        <p:nvSpPr>
          <p:cNvPr id="5" name="Shape 3"/>
          <p:cNvSpPr/>
          <p:nvPr/>
        </p:nvSpPr>
        <p:spPr>
          <a:xfrm>
            <a:off x="822960" y="1938528"/>
            <a:ext cx="548640" cy="548640"/>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965606" y="2081174"/>
            <a:ext cx="263347" cy="263347"/>
          </a:xfrm>
          <a:prstGeom prst="rect">
            <a:avLst/>
          </a:prstGeom>
        </p:spPr>
      </p:pic>
      <p:sp>
        <p:nvSpPr>
          <p:cNvPr id="7" name="Text 4"/>
          <p:cNvSpPr/>
          <p:nvPr/>
        </p:nvSpPr>
        <p:spPr>
          <a:xfrm>
            <a:off x="1572768" y="1901952"/>
            <a:ext cx="4160520" cy="621792"/>
          </a:xfrm>
          <a:prstGeom prst="rect">
            <a:avLst/>
          </a:prstGeom>
          <a:noFill/>
          <a:ln/>
        </p:spPr>
        <p:txBody>
          <a:bodyPr wrap="square" lIns="0" tIns="0" rIns="0" bIns="0" rtlCol="0" anchor="t"/>
          <a:lstStyle/>
          <a:p>
            <a:pPr indent="0" marL="0">
              <a:buNone/>
            </a:pPr>
            <a:r>
              <a:rPr lang="en-US" sz="1700" b="1" dirty="0">
                <a:solidFill>
                  <a:srgbClr val="1E2761"/>
                </a:solidFill>
                <a:latin typeface="Cambria" pitchFamily="34" charset="0"/>
                <a:ea typeface="Cambria" pitchFamily="34" charset="-122"/>
                <a:cs typeface="Cambria" pitchFamily="34" charset="-120"/>
              </a:rPr>
              <a:t>Quy tắc đủ đơn giản để nhớ</a:t>
            </a:r>
            <a:endParaRPr lang="en-US" sz="1700" dirty="0"/>
          </a:p>
        </p:txBody>
      </p:sp>
      <p:sp>
        <p:nvSpPr>
          <p:cNvPr id="8" name="Text 5"/>
          <p:cNvSpPr/>
          <p:nvPr/>
        </p:nvSpPr>
        <p:spPr>
          <a:xfrm>
            <a:off x="1572768" y="2542032"/>
            <a:ext cx="4114800" cy="960120"/>
          </a:xfrm>
          <a:prstGeom prst="rect">
            <a:avLst/>
          </a:prstGeom>
          <a:noFill/>
          <a:ln/>
        </p:spPr>
        <p:txBody>
          <a:bodyPr wrap="square" lIns="0" tIns="0" rIns="0" bIns="0" rtlCol="0" anchor="t"/>
          <a:lstStyle/>
          <a:p>
            <a:pPr indent="0" marL="0">
              <a:lnSpc>
                <a:spcPct val="108000"/>
              </a:lnSpc>
              <a:buNone/>
            </a:pPr>
            <a:r>
              <a:rPr lang="en-US" sz="1300" dirty="0">
                <a:solidFill>
                  <a:srgbClr val="22263B"/>
                </a:solidFill>
                <a:latin typeface="Calibri" pitchFamily="34" charset="0"/>
                <a:ea typeface="Calibri" pitchFamily="34" charset="-122"/>
                <a:cs typeface="Calibri" pitchFamily="34" charset="-120"/>
              </a:rPr>
              <a:t>Con người chỉ thuộc vài quy tắc. Toàn bộ phần phức tạp dồn vào instruction file cho AI thi hành.</a:t>
            </a:r>
            <a:endParaRPr lang="en-US" sz="1300" dirty="0"/>
          </a:p>
        </p:txBody>
      </p:sp>
      <p:sp>
        <p:nvSpPr>
          <p:cNvPr id="9" name="Shape 6"/>
          <p:cNvSpPr/>
          <p:nvPr/>
        </p:nvSpPr>
        <p:spPr>
          <a:xfrm>
            <a:off x="6199632" y="1645920"/>
            <a:ext cx="5440680" cy="2011680"/>
          </a:xfrm>
          <a:prstGeom prst="roundRect">
            <a:avLst>
              <a:gd name="adj" fmla="val 4091"/>
            </a:avLst>
          </a:prstGeom>
          <a:solidFill>
            <a:srgbClr val="EEF3FB"/>
          </a:solidFill>
          <a:ln/>
          <a:effectLst>
            <a:outerShdw sx="100000" sy="100000" kx="0" ky="0" algn="bl" rotWithShape="0" blurRad="88900" dist="25400" dir="5400000">
              <a:srgbClr val="1E2761">
                <a:alpha val="22000"/>
              </a:srgbClr>
            </a:outerShdw>
          </a:effectLst>
        </p:spPr>
      </p:sp>
      <p:sp>
        <p:nvSpPr>
          <p:cNvPr id="10" name="Shape 7"/>
          <p:cNvSpPr/>
          <p:nvPr/>
        </p:nvSpPr>
        <p:spPr>
          <a:xfrm>
            <a:off x="6473952" y="1938528"/>
            <a:ext cx="548640" cy="548640"/>
          </a:xfrm>
          <a:prstGeom prst="ellipse">
            <a:avLst/>
          </a:prstGeom>
          <a:solidFill>
            <a:srgbClr val="1E2761"/>
          </a:solidFill>
          <a:ln/>
        </p:spPr>
      </p:sp>
      <p:pic>
        <p:nvPicPr>
          <p:cNvPr id="11" name="Image 1" descr="preencoded.png">    </p:cNvPr>
          <p:cNvPicPr>
            <a:picLocks noChangeAspect="1"/>
          </p:cNvPicPr>
          <p:nvPr/>
        </p:nvPicPr>
        <p:blipFill>
          <a:blip r:embed="rId2"/>
          <a:stretch>
            <a:fillRect/>
          </a:stretch>
        </p:blipFill>
        <p:spPr>
          <a:xfrm>
            <a:off x="6616598" y="2081174"/>
            <a:ext cx="263347" cy="263347"/>
          </a:xfrm>
          <a:prstGeom prst="rect">
            <a:avLst/>
          </a:prstGeom>
        </p:spPr>
      </p:pic>
      <p:sp>
        <p:nvSpPr>
          <p:cNvPr id="12" name="Text 8"/>
          <p:cNvSpPr/>
          <p:nvPr/>
        </p:nvSpPr>
        <p:spPr>
          <a:xfrm>
            <a:off x="7223760" y="1901952"/>
            <a:ext cx="4160520" cy="621792"/>
          </a:xfrm>
          <a:prstGeom prst="rect">
            <a:avLst/>
          </a:prstGeom>
          <a:noFill/>
          <a:ln/>
        </p:spPr>
        <p:txBody>
          <a:bodyPr wrap="square" lIns="0" tIns="0" rIns="0" bIns="0" rtlCol="0" anchor="t"/>
          <a:lstStyle/>
          <a:p>
            <a:pPr indent="0" marL="0">
              <a:buNone/>
            </a:pPr>
            <a:r>
              <a:rPr lang="en-US" sz="1700" b="1" dirty="0">
                <a:solidFill>
                  <a:srgbClr val="1E2761"/>
                </a:solidFill>
                <a:latin typeface="Cambria" pitchFamily="34" charset="0"/>
                <a:ea typeface="Cambria" pitchFamily="34" charset="-122"/>
                <a:cs typeface="Cambria" pitchFamily="34" charset="-120"/>
              </a:rPr>
              <a:t>Đẩy tối đa cho AI — không phụ thuộc</a:t>
            </a:r>
            <a:endParaRPr lang="en-US" sz="1700" dirty="0"/>
          </a:p>
        </p:txBody>
      </p:sp>
      <p:sp>
        <p:nvSpPr>
          <p:cNvPr id="13" name="Text 9"/>
          <p:cNvSpPr/>
          <p:nvPr/>
        </p:nvSpPr>
        <p:spPr>
          <a:xfrm>
            <a:off x="7223760" y="2542032"/>
            <a:ext cx="4114800" cy="960120"/>
          </a:xfrm>
          <a:prstGeom prst="rect">
            <a:avLst/>
          </a:prstGeom>
          <a:noFill/>
          <a:ln/>
        </p:spPr>
        <p:txBody>
          <a:bodyPr wrap="square" lIns="0" tIns="0" rIns="0" bIns="0" rtlCol="0" anchor="t"/>
          <a:lstStyle/>
          <a:p>
            <a:pPr indent="0" marL="0">
              <a:lnSpc>
                <a:spcPct val="108000"/>
              </a:lnSpc>
              <a:buNone/>
            </a:pPr>
            <a:r>
              <a:rPr lang="en-US" sz="1300" dirty="0">
                <a:solidFill>
                  <a:srgbClr val="22263B"/>
                </a:solidFill>
                <a:latin typeface="Calibri" pitchFamily="34" charset="0"/>
                <a:ea typeface="Calibri" pitchFamily="34" charset="-122"/>
                <a:cs typeface="Calibri" pitchFamily="34" charset="-120"/>
              </a:rPr>
              <a:t>Đẩy việc AI làm tốt để dành năng lượng cho việc người đáng làm: ra quyết định, đàm phán, thẩm định.</a:t>
            </a:r>
            <a:endParaRPr lang="en-US" sz="1300" dirty="0"/>
          </a:p>
        </p:txBody>
      </p:sp>
      <p:sp>
        <p:nvSpPr>
          <p:cNvPr id="14" name="Shape 10"/>
          <p:cNvSpPr/>
          <p:nvPr/>
        </p:nvSpPr>
        <p:spPr>
          <a:xfrm>
            <a:off x="548640" y="3886200"/>
            <a:ext cx="5440680" cy="2011680"/>
          </a:xfrm>
          <a:prstGeom prst="roundRect">
            <a:avLst>
              <a:gd name="adj" fmla="val 4091"/>
            </a:avLst>
          </a:prstGeom>
          <a:solidFill>
            <a:srgbClr val="EEF3FB"/>
          </a:solidFill>
          <a:ln/>
          <a:effectLst>
            <a:outerShdw sx="100000" sy="100000" kx="0" ky="0" algn="bl" rotWithShape="0" blurRad="88900" dist="25400" dir="5400000">
              <a:srgbClr val="1E2761">
                <a:alpha val="22000"/>
              </a:srgbClr>
            </a:outerShdw>
          </a:effectLst>
        </p:spPr>
      </p:sp>
      <p:sp>
        <p:nvSpPr>
          <p:cNvPr id="15" name="Shape 11"/>
          <p:cNvSpPr/>
          <p:nvPr/>
        </p:nvSpPr>
        <p:spPr>
          <a:xfrm>
            <a:off x="822960" y="4178808"/>
            <a:ext cx="548640" cy="548640"/>
          </a:xfrm>
          <a:prstGeom prst="ellipse">
            <a:avLst/>
          </a:prstGeom>
          <a:solidFill>
            <a:srgbClr val="1E2761"/>
          </a:solidFill>
          <a:ln/>
        </p:spPr>
      </p:sp>
      <p:pic>
        <p:nvPicPr>
          <p:cNvPr id="16" name="Image 2" descr="preencoded.png">    </p:cNvPr>
          <p:cNvPicPr>
            <a:picLocks noChangeAspect="1"/>
          </p:cNvPicPr>
          <p:nvPr/>
        </p:nvPicPr>
        <p:blipFill>
          <a:blip r:embed="rId3"/>
          <a:stretch>
            <a:fillRect/>
          </a:stretch>
        </p:blipFill>
        <p:spPr>
          <a:xfrm>
            <a:off x="965606" y="4321454"/>
            <a:ext cx="263347" cy="263347"/>
          </a:xfrm>
          <a:prstGeom prst="rect">
            <a:avLst/>
          </a:prstGeom>
        </p:spPr>
      </p:pic>
      <p:sp>
        <p:nvSpPr>
          <p:cNvPr id="17" name="Text 12"/>
          <p:cNvSpPr/>
          <p:nvPr/>
        </p:nvSpPr>
        <p:spPr>
          <a:xfrm>
            <a:off x="1572768" y="4142232"/>
            <a:ext cx="4160520" cy="621792"/>
          </a:xfrm>
          <a:prstGeom prst="rect">
            <a:avLst/>
          </a:prstGeom>
          <a:noFill/>
          <a:ln/>
        </p:spPr>
        <p:txBody>
          <a:bodyPr wrap="square" lIns="0" tIns="0" rIns="0" bIns="0" rtlCol="0" anchor="t"/>
          <a:lstStyle/>
          <a:p>
            <a:pPr indent="0" marL="0">
              <a:buNone/>
            </a:pPr>
            <a:r>
              <a:rPr lang="en-US" sz="1700" b="1" dirty="0">
                <a:solidFill>
                  <a:srgbClr val="1E2761"/>
                </a:solidFill>
                <a:latin typeface="Cambria" pitchFamily="34" charset="0"/>
                <a:ea typeface="Cambria" pitchFamily="34" charset="-122"/>
                <a:cs typeface="Cambria" pitchFamily="34" charset="-120"/>
              </a:rPr>
              <a:t>Tài liệu AI-first</a:t>
            </a:r>
            <a:endParaRPr lang="en-US" sz="1700" dirty="0"/>
          </a:p>
        </p:txBody>
      </p:sp>
      <p:sp>
        <p:nvSpPr>
          <p:cNvPr id="18" name="Text 13"/>
          <p:cNvSpPr/>
          <p:nvPr/>
        </p:nvSpPr>
        <p:spPr>
          <a:xfrm>
            <a:off x="1572768" y="4782312"/>
            <a:ext cx="4114800" cy="960120"/>
          </a:xfrm>
          <a:prstGeom prst="rect">
            <a:avLst/>
          </a:prstGeom>
          <a:noFill/>
          <a:ln/>
        </p:spPr>
        <p:txBody>
          <a:bodyPr wrap="square" lIns="0" tIns="0" rIns="0" bIns="0" rtlCol="0" anchor="t"/>
          <a:lstStyle/>
          <a:p>
            <a:pPr indent="0" marL="0">
              <a:lnSpc>
                <a:spcPct val="108000"/>
              </a:lnSpc>
              <a:buNone/>
            </a:pPr>
            <a:r>
              <a:rPr lang="en-US" sz="1300" dirty="0">
                <a:solidFill>
                  <a:srgbClr val="22263B"/>
                </a:solidFill>
                <a:latin typeface="Calibri" pitchFamily="34" charset="0"/>
                <a:ea typeface="Calibri" pitchFamily="34" charset="-122"/>
                <a:cs typeface="Calibri" pitchFamily="34" charset="-120"/>
              </a:rPr>
              <a:t>Mọi tri thức quy về text / markdown để AI nắm trọn vẹn — con người vẫn đọc và kiểm soát được.</a:t>
            </a:r>
            <a:endParaRPr lang="en-US" sz="1300" dirty="0"/>
          </a:p>
        </p:txBody>
      </p:sp>
      <p:sp>
        <p:nvSpPr>
          <p:cNvPr id="19" name="Shape 14"/>
          <p:cNvSpPr/>
          <p:nvPr/>
        </p:nvSpPr>
        <p:spPr>
          <a:xfrm>
            <a:off x="6199632" y="3886200"/>
            <a:ext cx="5440680" cy="2011680"/>
          </a:xfrm>
          <a:prstGeom prst="roundRect">
            <a:avLst>
              <a:gd name="adj" fmla="val 4091"/>
            </a:avLst>
          </a:prstGeom>
          <a:solidFill>
            <a:srgbClr val="EEF3FB"/>
          </a:solidFill>
          <a:ln/>
          <a:effectLst>
            <a:outerShdw sx="100000" sy="100000" kx="0" ky="0" algn="bl" rotWithShape="0" blurRad="88900" dist="25400" dir="5400000">
              <a:srgbClr val="1E2761">
                <a:alpha val="22000"/>
              </a:srgbClr>
            </a:outerShdw>
          </a:effectLst>
        </p:spPr>
      </p:sp>
      <p:sp>
        <p:nvSpPr>
          <p:cNvPr id="20" name="Shape 15"/>
          <p:cNvSpPr/>
          <p:nvPr/>
        </p:nvSpPr>
        <p:spPr>
          <a:xfrm>
            <a:off x="6473952" y="4178808"/>
            <a:ext cx="548640" cy="548640"/>
          </a:xfrm>
          <a:prstGeom prst="ellipse">
            <a:avLst/>
          </a:prstGeom>
          <a:solidFill>
            <a:srgbClr val="1E2761"/>
          </a:solidFill>
          <a:ln/>
        </p:spPr>
      </p:sp>
      <p:pic>
        <p:nvPicPr>
          <p:cNvPr id="21" name="Image 3" descr="preencoded.png">    </p:cNvPr>
          <p:cNvPicPr>
            <a:picLocks noChangeAspect="1"/>
          </p:cNvPicPr>
          <p:nvPr/>
        </p:nvPicPr>
        <p:blipFill>
          <a:blip r:embed="rId4"/>
          <a:stretch>
            <a:fillRect/>
          </a:stretch>
        </p:blipFill>
        <p:spPr>
          <a:xfrm>
            <a:off x="6616598" y="4321454"/>
            <a:ext cx="263347" cy="263347"/>
          </a:xfrm>
          <a:prstGeom prst="rect">
            <a:avLst/>
          </a:prstGeom>
        </p:spPr>
      </p:pic>
      <p:sp>
        <p:nvSpPr>
          <p:cNvPr id="22" name="Text 16"/>
          <p:cNvSpPr/>
          <p:nvPr/>
        </p:nvSpPr>
        <p:spPr>
          <a:xfrm>
            <a:off x="7223760" y="4142232"/>
            <a:ext cx="4160520" cy="621792"/>
          </a:xfrm>
          <a:prstGeom prst="rect">
            <a:avLst/>
          </a:prstGeom>
          <a:noFill/>
          <a:ln/>
        </p:spPr>
        <p:txBody>
          <a:bodyPr wrap="square" lIns="0" tIns="0" rIns="0" bIns="0" rtlCol="0" anchor="t"/>
          <a:lstStyle/>
          <a:p>
            <a:pPr indent="0" marL="0">
              <a:buNone/>
            </a:pPr>
            <a:r>
              <a:rPr lang="en-US" sz="1700" b="1" dirty="0">
                <a:solidFill>
                  <a:srgbClr val="1E2761"/>
                </a:solidFill>
                <a:latin typeface="Cambria" pitchFamily="34" charset="0"/>
                <a:ea typeface="Cambria" pitchFamily="34" charset="-122"/>
                <a:cs typeface="Cambria" pitchFamily="34" charset="-120"/>
              </a:rPr>
              <a:t>Repo là nhà duy nhất của tri thức</a:t>
            </a:r>
            <a:endParaRPr lang="en-US" sz="1700" dirty="0"/>
          </a:p>
        </p:txBody>
      </p:sp>
      <p:sp>
        <p:nvSpPr>
          <p:cNvPr id="23" name="Text 17"/>
          <p:cNvSpPr/>
          <p:nvPr/>
        </p:nvSpPr>
        <p:spPr>
          <a:xfrm>
            <a:off x="7223760" y="4782312"/>
            <a:ext cx="4114800" cy="960120"/>
          </a:xfrm>
          <a:prstGeom prst="rect">
            <a:avLst/>
          </a:prstGeom>
          <a:noFill/>
          <a:ln/>
        </p:spPr>
        <p:txBody>
          <a:bodyPr wrap="square" lIns="0" tIns="0" rIns="0" bIns="0" rtlCol="0" anchor="t"/>
          <a:lstStyle/>
          <a:p>
            <a:pPr indent="0" marL="0">
              <a:lnSpc>
                <a:spcPct val="108000"/>
              </a:lnSpc>
              <a:buNone/>
            </a:pPr>
            <a:r>
              <a:rPr lang="en-US" sz="1300" dirty="0">
                <a:solidFill>
                  <a:srgbClr val="22263B"/>
                </a:solidFill>
                <a:latin typeface="Calibri" pitchFamily="34" charset="0"/>
                <a:ea typeface="Calibri" pitchFamily="34" charset="-122"/>
                <a:cs typeface="Calibri" pitchFamily="34" charset="-120"/>
              </a:rPr>
              <a:t>Lưu trong docs/ của repository, viết bằng tiếng Việt. AI quyết định lưu vào đâu — người kiểm soát kết quả.</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10972800" cy="292608"/>
          </a:xfrm>
          <a:prstGeom prst="rect">
            <a:avLst/>
          </a:prstGeom>
          <a:noFill/>
          <a:ln/>
        </p:spPr>
        <p:txBody>
          <a:bodyPr wrap="square" lIns="0" tIns="0" rIns="0" bIns="0" rtlCol="0" anchor="ctr"/>
          <a:lstStyle/>
          <a:p>
            <a:pPr indent="0" marL="0">
              <a:buNone/>
            </a:pPr>
            <a:r>
              <a:rPr lang="en-US" sz="1200" b="1" spc="300" kern="0" dirty="0">
                <a:solidFill>
                  <a:srgbClr val="02C39A"/>
                </a:solidFill>
                <a:latin typeface="Calibri" pitchFamily="34" charset="0"/>
                <a:ea typeface="Calibri" pitchFamily="34" charset="-122"/>
                <a:cs typeface="Calibri" pitchFamily="34" charset="-120"/>
              </a:rPr>
              <a:t>MÔ HÌNH</a:t>
            </a:r>
            <a:endParaRPr lang="en-US" sz="1200" dirty="0"/>
          </a:p>
        </p:txBody>
      </p:sp>
      <p:sp>
        <p:nvSpPr>
          <p:cNvPr id="3" name="Text 1"/>
          <p:cNvSpPr/>
          <p:nvPr/>
        </p:nvSpPr>
        <p:spPr>
          <a:xfrm>
            <a:off x="548640" y="621792"/>
            <a:ext cx="11064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Hai tầng tài liệu — chấp nhận thực tế, phân vai rõ</a:t>
            </a:r>
            <a:endParaRPr lang="en-US" sz="3000" dirty="0"/>
          </a:p>
        </p:txBody>
      </p:sp>
      <p:sp>
        <p:nvSpPr>
          <p:cNvPr id="4" name="Shape 2"/>
          <p:cNvSpPr/>
          <p:nvPr/>
        </p:nvSpPr>
        <p:spPr>
          <a:xfrm>
            <a:off x="548640" y="1554480"/>
            <a:ext cx="4892040" cy="3063240"/>
          </a:xfrm>
          <a:prstGeom prst="roundRect">
            <a:avLst>
              <a:gd name="adj" fmla="val 2687"/>
            </a:avLst>
          </a:prstGeom>
          <a:solidFill>
            <a:srgbClr val="EEF3FB"/>
          </a:solidFill>
          <a:ln/>
          <a:effectLst>
            <a:outerShdw sx="100000" sy="100000" kx="0" ky="0" algn="bl" rotWithShape="0" blurRad="88900" dist="25400" dir="5400000">
              <a:srgbClr val="1E2761">
                <a:alpha val="22000"/>
              </a:srgbClr>
            </a:outerShdw>
          </a:effectLst>
        </p:spPr>
      </p:sp>
      <p:sp>
        <p:nvSpPr>
          <p:cNvPr id="5" name="Shape 3"/>
          <p:cNvSpPr/>
          <p:nvPr/>
        </p:nvSpPr>
        <p:spPr>
          <a:xfrm>
            <a:off x="841248" y="1828800"/>
            <a:ext cx="548640" cy="548640"/>
          </a:xfrm>
          <a:prstGeom prst="ellipse">
            <a:avLst/>
          </a:prstGeom>
          <a:solidFill>
            <a:srgbClr val="CADCFC"/>
          </a:solidFill>
          <a:ln/>
        </p:spPr>
      </p:sp>
      <p:pic>
        <p:nvPicPr>
          <p:cNvPr id="6" name="Image 0" descr="preencoded.png">    </p:cNvPr>
          <p:cNvPicPr>
            <a:picLocks noChangeAspect="1"/>
          </p:cNvPicPr>
          <p:nvPr/>
        </p:nvPicPr>
        <p:blipFill>
          <a:blip r:embed="rId1"/>
          <a:stretch>
            <a:fillRect/>
          </a:stretch>
        </p:blipFill>
        <p:spPr>
          <a:xfrm>
            <a:off x="983894" y="1971446"/>
            <a:ext cx="263347" cy="263347"/>
          </a:xfrm>
          <a:prstGeom prst="rect">
            <a:avLst/>
          </a:prstGeom>
        </p:spPr>
      </p:pic>
      <p:sp>
        <p:nvSpPr>
          <p:cNvPr id="7" name="Text 4"/>
          <p:cNvSpPr/>
          <p:nvPr/>
        </p:nvSpPr>
        <p:spPr>
          <a:xfrm>
            <a:off x="1536192" y="1883664"/>
            <a:ext cx="3291840" cy="45720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Google Drive</a:t>
            </a:r>
            <a:endParaRPr lang="en-US" sz="1900" dirty="0"/>
          </a:p>
        </p:txBody>
      </p:sp>
      <p:sp>
        <p:nvSpPr>
          <p:cNvPr id="8" name="Text 5"/>
          <p:cNvSpPr/>
          <p:nvPr/>
        </p:nvSpPr>
        <p:spPr>
          <a:xfrm>
            <a:off x="868680" y="2560320"/>
            <a:ext cx="4297680" cy="1874520"/>
          </a:xfrm>
          <a:prstGeom prst="rect">
            <a:avLst/>
          </a:prstGeom>
          <a:noFill/>
          <a:ln/>
        </p:spPr>
        <p:txBody>
          <a:bodyPr wrap="square" lIns="0" tIns="0" rIns="0" bIns="0" rtlCol="0" anchor="t"/>
          <a:lstStyle/>
          <a:p>
            <a:pPr marL="152400" indent="-152400">
              <a:lnSpc>
                <a:spcPct val="106000"/>
              </a:lnSpc>
              <a:spcAft>
                <a:spcPts val="600"/>
              </a:spcAft>
              <a:buSzPct val="100000"/>
              <a:buChar char="–"/>
            </a:pPr>
            <a:r>
              <a:rPr lang="en-US" sz="1250" dirty="0">
                <a:solidFill>
                  <a:srgbClr val="22263B"/>
                </a:solidFill>
                <a:latin typeface="Calibri" pitchFamily="34" charset="0"/>
                <a:ea typeface="Calibri" pitchFamily="34" charset="-122"/>
                <a:cs typeface="Calibri" pitchFamily="34" charset="-120"/>
              </a:rPr>
              <a:t>Bề mặt giao tiếp / đàm phán với khách hàng và cấp cao</a:t>
            </a:r>
            <a:endParaRPr lang="en-US" sz="1250" dirty="0"/>
          </a:p>
          <a:p>
            <a:pPr marL="152400" indent="-152400">
              <a:lnSpc>
                <a:spcPct val="106000"/>
              </a:lnSpc>
              <a:spcAft>
                <a:spcPts val="600"/>
              </a:spcAft>
              <a:buSzPct val="100000"/>
              <a:buChar char="–"/>
            </a:pPr>
            <a:r>
              <a:rPr lang="en-US" sz="1250" dirty="0">
                <a:solidFill>
                  <a:srgbClr val="22263B"/>
                </a:solidFill>
                <a:latin typeface="Calibri" pitchFamily="34" charset="0"/>
                <a:ea typeface="Calibri" pitchFamily="34" charset="-122"/>
                <a:cs typeface="Calibri" pitchFamily="34" charset="-120"/>
              </a:rPr>
              <a:t>SE tự tay tạo / update là chính — thi thoảng nhờ AI (sinh bảng lớn thành xlsx, sửa trực tiếp)</a:t>
            </a:r>
            <a:endParaRPr lang="en-US" sz="1250" dirty="0"/>
          </a:p>
          <a:p>
            <a:pPr marL="152400" indent="-152400">
              <a:lnSpc>
                <a:spcPct val="106000"/>
              </a:lnSpc>
              <a:spcAft>
                <a:spcPts val="600"/>
              </a:spcAft>
              <a:buSzPct val="100000"/>
              <a:buChar char="–"/>
            </a:pPr>
            <a:r>
              <a:rPr lang="en-US" sz="1250" dirty="0">
                <a:solidFill>
                  <a:srgbClr val="22263B"/>
                </a:solidFill>
                <a:latin typeface="Calibri" pitchFamily="34" charset="0"/>
                <a:ea typeface="Calibri" pitchFamily="34" charset="-122"/>
                <a:cs typeface="Calibri" pitchFamily="34" charset="-120"/>
              </a:rPr>
              <a:t>Đầu vào nhất thời: đọc xong, rút tri thức, xong vai trò</a:t>
            </a:r>
            <a:endParaRPr lang="en-US" sz="1250" dirty="0"/>
          </a:p>
        </p:txBody>
      </p:sp>
      <p:sp>
        <p:nvSpPr>
          <p:cNvPr id="9" name="Shape 6"/>
          <p:cNvSpPr/>
          <p:nvPr/>
        </p:nvSpPr>
        <p:spPr>
          <a:xfrm>
            <a:off x="5596128" y="2697480"/>
            <a:ext cx="960120" cy="731520"/>
          </a:xfrm>
          <a:prstGeom prst="chevron">
            <a:avLst/>
          </a:prstGeom>
          <a:solidFill>
            <a:srgbClr val="02C39A"/>
          </a:solidFill>
          <a:ln/>
        </p:spPr>
      </p:sp>
      <p:sp>
        <p:nvSpPr>
          <p:cNvPr id="10" name="Text 7"/>
          <p:cNvSpPr/>
          <p:nvPr/>
        </p:nvSpPr>
        <p:spPr>
          <a:xfrm>
            <a:off x="5413248" y="3493008"/>
            <a:ext cx="1325880" cy="566928"/>
          </a:xfrm>
          <a:prstGeom prst="rect">
            <a:avLst/>
          </a:prstGeom>
          <a:noFill/>
          <a:ln/>
        </p:spPr>
        <p:txBody>
          <a:bodyPr wrap="square" lIns="0" tIns="0" rIns="0" bIns="0" rtlCol="0" anchor="ctr"/>
          <a:lstStyle/>
          <a:p>
            <a:pPr algn="ctr" indent="0" marL="0">
              <a:buNone/>
            </a:pPr>
            <a:r>
              <a:rPr lang="en-US" sz="1100" b="1" dirty="0">
                <a:solidFill>
                  <a:srgbClr val="5A6178"/>
                </a:solidFill>
                <a:latin typeface="Calibri" pitchFamily="34" charset="0"/>
                <a:ea typeface="Calibri" pitchFamily="34" charset="-122"/>
                <a:cs typeface="Calibri" pitchFamily="34" charset="-120"/>
              </a:rPr>
              <a:t>SE + AI</a:t>
            </a:r>
            <a:endParaRPr lang="en-US" sz="1100" dirty="0"/>
          </a:p>
          <a:p>
            <a:pPr algn="ctr" indent="0" marL="0">
              <a:buNone/>
            </a:pPr>
            <a:r>
              <a:rPr lang="en-US" sz="1100" b="1" dirty="0">
                <a:solidFill>
                  <a:srgbClr val="5A6178"/>
                </a:solidFill>
                <a:latin typeface="Calibri" pitchFamily="34" charset="0"/>
                <a:ea typeface="Calibri" pitchFamily="34" charset="-122"/>
                <a:cs typeface="Calibri" pitchFamily="34" charset="-120"/>
              </a:rPr>
              <a:t>chuyển đổi</a:t>
            </a:r>
            <a:endParaRPr lang="en-US" sz="1100" dirty="0"/>
          </a:p>
        </p:txBody>
      </p:sp>
      <p:sp>
        <p:nvSpPr>
          <p:cNvPr id="11" name="Shape 8"/>
          <p:cNvSpPr/>
          <p:nvPr/>
        </p:nvSpPr>
        <p:spPr>
          <a:xfrm>
            <a:off x="6748272" y="1554480"/>
            <a:ext cx="4892040" cy="3063240"/>
          </a:xfrm>
          <a:prstGeom prst="roundRect">
            <a:avLst>
              <a:gd name="adj" fmla="val 2687"/>
            </a:avLst>
          </a:prstGeom>
          <a:solidFill>
            <a:srgbClr val="1E2761"/>
          </a:solidFill>
          <a:ln/>
          <a:effectLst>
            <a:outerShdw sx="100000" sy="100000" kx="0" ky="0" algn="bl" rotWithShape="0" blurRad="88900" dist="25400" dir="5400000">
              <a:srgbClr val="1E2761">
                <a:alpha val="22000"/>
              </a:srgbClr>
            </a:outerShdw>
          </a:effectLst>
        </p:spPr>
      </p:sp>
      <p:sp>
        <p:nvSpPr>
          <p:cNvPr id="12" name="Shape 9"/>
          <p:cNvSpPr/>
          <p:nvPr/>
        </p:nvSpPr>
        <p:spPr>
          <a:xfrm>
            <a:off x="7040880" y="1828800"/>
            <a:ext cx="548640" cy="548640"/>
          </a:xfrm>
          <a:prstGeom prst="ellipse">
            <a:avLst/>
          </a:prstGeom>
          <a:solidFill>
            <a:srgbClr val="27336F"/>
          </a:solidFill>
          <a:ln/>
        </p:spPr>
      </p:sp>
      <p:pic>
        <p:nvPicPr>
          <p:cNvPr id="13" name="Image 1" descr="preencoded.png">    </p:cNvPr>
          <p:cNvPicPr>
            <a:picLocks noChangeAspect="1"/>
          </p:cNvPicPr>
          <p:nvPr/>
        </p:nvPicPr>
        <p:blipFill>
          <a:blip r:embed="rId2"/>
          <a:stretch>
            <a:fillRect/>
          </a:stretch>
        </p:blipFill>
        <p:spPr>
          <a:xfrm>
            <a:off x="7183526" y="1971446"/>
            <a:ext cx="263347" cy="263347"/>
          </a:xfrm>
          <a:prstGeom prst="rect">
            <a:avLst/>
          </a:prstGeom>
        </p:spPr>
      </p:pic>
      <p:sp>
        <p:nvSpPr>
          <p:cNvPr id="14" name="Text 10"/>
          <p:cNvSpPr/>
          <p:nvPr/>
        </p:nvSpPr>
        <p:spPr>
          <a:xfrm>
            <a:off x="7735824" y="1883664"/>
            <a:ext cx="3291840" cy="45720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Repo — docs/</a:t>
            </a:r>
            <a:endParaRPr lang="en-US" sz="1900" dirty="0"/>
          </a:p>
        </p:txBody>
      </p:sp>
      <p:sp>
        <p:nvSpPr>
          <p:cNvPr id="15" name="Text 11"/>
          <p:cNvSpPr/>
          <p:nvPr/>
        </p:nvSpPr>
        <p:spPr>
          <a:xfrm>
            <a:off x="7068312" y="2560320"/>
            <a:ext cx="4297680" cy="1874520"/>
          </a:xfrm>
          <a:prstGeom prst="rect">
            <a:avLst/>
          </a:prstGeom>
          <a:noFill/>
          <a:ln/>
        </p:spPr>
        <p:txBody>
          <a:bodyPr wrap="square" lIns="0" tIns="0" rIns="0" bIns="0" rtlCol="0" anchor="t"/>
          <a:lstStyle/>
          <a:p>
            <a:pPr marL="152400" indent="-152400">
              <a:lnSpc>
                <a:spcPct val="106000"/>
              </a:lnSpc>
              <a:spcAft>
                <a:spcPts val="600"/>
              </a:spcAft>
              <a:buSzPct val="100000"/>
              <a:buChar char="–"/>
            </a:pPr>
            <a:r>
              <a:rPr lang="en-US" sz="1250" dirty="0">
                <a:solidFill>
                  <a:srgbClr val="CADCFC"/>
                </a:solidFill>
                <a:latin typeface="Calibri" pitchFamily="34" charset="0"/>
                <a:ea typeface="Calibri" pitchFamily="34" charset="-122"/>
                <a:cs typeface="Calibri" pitchFamily="34" charset="-120"/>
              </a:rPr>
              <a:t>Source of truth duy nhất của team</a:t>
            </a:r>
            <a:endParaRPr lang="en-US" sz="1250" dirty="0"/>
          </a:p>
          <a:p>
            <a:pPr marL="152400" indent="-152400">
              <a:lnSpc>
                <a:spcPct val="106000"/>
              </a:lnSpc>
              <a:spcAft>
                <a:spcPts val="600"/>
              </a:spcAft>
              <a:buSzPct val="100000"/>
              <a:buChar char="–"/>
            </a:pPr>
            <a:r>
              <a:rPr lang="en-US" sz="1250" dirty="0">
                <a:solidFill>
                  <a:srgbClr val="CADCFC"/>
                </a:solidFill>
                <a:latin typeface="Calibri" pitchFamily="34" charset="0"/>
                <a:ea typeface="Calibri" pitchFamily="34" charset="-122"/>
                <a:cs typeface="Calibri" pitchFamily="34" charset="-120"/>
              </a:rPr>
              <a:t>Tri thức sống: AI và mọi thành viên truy cập, cập nhật</a:t>
            </a:r>
            <a:endParaRPr lang="en-US" sz="1250" dirty="0"/>
          </a:p>
          <a:p>
            <a:pPr marL="152400" indent="-152400">
              <a:lnSpc>
                <a:spcPct val="106000"/>
              </a:lnSpc>
              <a:spcAft>
                <a:spcPts val="600"/>
              </a:spcAft>
              <a:buSzPct val="100000"/>
              <a:buChar char="–"/>
            </a:pPr>
            <a:r>
              <a:rPr lang="en-US" sz="1250" dirty="0">
                <a:solidFill>
                  <a:srgbClr val="CADCFC"/>
                </a:solidFill>
                <a:latin typeface="Calibri" pitchFamily="34" charset="0"/>
                <a:ea typeface="Calibri" pitchFamily="34" charset="-122"/>
                <a:cs typeface="Calibri" pitchFamily="34" charset="-120"/>
              </a:rPr>
              <a:t>AI ghi — SE hiếm khi sửa tay: bàn luận với AI rồi yêu cầu “update vào các tài liệu cần thiết”, SE review diff</a:t>
            </a:r>
            <a:endParaRPr lang="en-US" sz="1250" dirty="0"/>
          </a:p>
        </p:txBody>
      </p:sp>
      <p:sp>
        <p:nvSpPr>
          <p:cNvPr id="16" name="Shape 12"/>
          <p:cNvSpPr/>
          <p:nvPr/>
        </p:nvSpPr>
        <p:spPr>
          <a:xfrm>
            <a:off x="548640" y="4983480"/>
            <a:ext cx="11091672" cy="1234440"/>
          </a:xfrm>
          <a:prstGeom prst="roundRect">
            <a:avLst>
              <a:gd name="adj" fmla="val 6667"/>
            </a:avLst>
          </a:prstGeom>
          <a:solidFill>
            <a:srgbClr val="1E2761"/>
          </a:solidFill>
          <a:ln/>
          <a:effectLst>
            <a:outerShdw sx="100000" sy="100000" kx="0" ky="0" algn="bl" rotWithShape="0" blurRad="88900" dist="25400" dir="5400000">
              <a:srgbClr val="1E2761">
                <a:alpha val="22000"/>
              </a:srgbClr>
            </a:outerShdw>
          </a:effectLst>
        </p:spPr>
      </p:sp>
      <p:sp>
        <p:nvSpPr>
          <p:cNvPr id="17" name="Text 13"/>
          <p:cNvSpPr/>
          <p:nvPr/>
        </p:nvSpPr>
        <p:spPr>
          <a:xfrm>
            <a:off x="868680" y="5138928"/>
            <a:ext cx="10469880" cy="960120"/>
          </a:xfrm>
          <a:prstGeom prst="rect">
            <a:avLst/>
          </a:prstGeom>
          <a:noFill/>
          <a:ln/>
        </p:spPr>
        <p:txBody>
          <a:bodyPr wrap="square" lIns="0" tIns="0" rIns="0" bIns="0" rtlCol="0" anchor="ctr"/>
          <a:lstStyle/>
          <a:p>
            <a:pPr indent="0" marL="0">
              <a:lnSpc>
                <a:spcPct val="110000"/>
              </a:lnSpc>
              <a:buNone/>
            </a:pPr>
            <a:r>
              <a:rPr lang="en-US" sz="1400" b="1" dirty="0">
                <a:solidFill>
                  <a:srgbClr val="02C39A"/>
                </a:solidFill>
                <a:latin typeface="Calibri" pitchFamily="34" charset="0"/>
                <a:ea typeface="Calibri" pitchFamily="34" charset="-122"/>
                <a:cs typeface="Calibri" pitchFamily="34" charset="-120"/>
              </a:rPr>
              <a:t>Chuyển đổi theo SỰ KIỆN, không theo tài liệu.  </a:t>
            </a:r>
            <a:pPr indent="0" marL="0">
              <a:lnSpc>
                <a:spcPct val="110000"/>
              </a:lnSpc>
              <a:buNone/>
            </a:pPr>
            <a:r>
              <a:rPr lang="en-US" sz="1400" dirty="0">
                <a:solidFill>
                  <a:srgbClr val="FFFFFF"/>
                </a:solidFill>
                <a:latin typeface="Calibri" pitchFamily="34" charset="0"/>
                <a:ea typeface="Calibri" pitchFamily="34" charset="-122"/>
                <a:cs typeface="Calibri" pitchFamily="34" charset="-120"/>
              </a:rPr>
              <a:t>Đơn vị đưa vào repo là “nội dung đã chốt trong buổi làm việc”, không phải “bản sao của file”. File Drive sửa tiếp? — đó là một sự kiện mới, kích hoạt một lần chuyển đổi mới. Không cần cơ chế theo dõi Drive.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66928" y="347472"/>
            <a:ext cx="10972800" cy="292608"/>
          </a:xfrm>
          <a:prstGeom prst="rect">
            <a:avLst/>
          </a:prstGeom>
          <a:noFill/>
          <a:ln/>
        </p:spPr>
        <p:txBody>
          <a:bodyPr wrap="square" lIns="0" tIns="0" rIns="0" bIns="0" rtlCol="0" anchor="ctr"/>
          <a:lstStyle/>
          <a:p>
            <a:pPr indent="0" marL="0">
              <a:buNone/>
            </a:pPr>
            <a:r>
              <a:rPr lang="en-US" sz="1200" b="1" spc="300" kern="0" dirty="0">
                <a:solidFill>
                  <a:srgbClr val="02C39A"/>
                </a:solidFill>
                <a:latin typeface="Calibri" pitchFamily="34" charset="0"/>
                <a:ea typeface="Calibri" pitchFamily="34" charset="-122"/>
                <a:cs typeface="Calibri" pitchFamily="34" charset="-120"/>
              </a:rPr>
              <a:t>PHẦN CỦA CON NGƯỜI</a:t>
            </a:r>
            <a:endParaRPr lang="en-US" sz="1200" dirty="0"/>
          </a:p>
        </p:txBody>
      </p:sp>
      <p:sp>
        <p:nvSpPr>
          <p:cNvPr id="3" name="Text 1"/>
          <p:cNvSpPr/>
          <p:nvPr/>
        </p:nvSpPr>
        <p:spPr>
          <a:xfrm>
            <a:off x="548640" y="621792"/>
            <a:ext cx="1106424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Năm quy tắc phải thuộc</a:t>
            </a:r>
            <a:endParaRPr lang="en-US" sz="3000" dirty="0"/>
          </a:p>
        </p:txBody>
      </p:sp>
      <p:sp>
        <p:nvSpPr>
          <p:cNvPr id="4" name="Shape 2"/>
          <p:cNvSpPr/>
          <p:nvPr/>
        </p:nvSpPr>
        <p:spPr>
          <a:xfrm>
            <a:off x="658368" y="1554480"/>
            <a:ext cx="457200" cy="457200"/>
          </a:xfrm>
          <a:prstGeom prst="ellipse">
            <a:avLst/>
          </a:prstGeom>
          <a:solidFill>
            <a:srgbClr val="02C39A"/>
          </a:solidFill>
          <a:ln/>
        </p:spPr>
      </p:sp>
      <p:sp>
        <p:nvSpPr>
          <p:cNvPr id="5" name="Text 3"/>
          <p:cNvSpPr/>
          <p:nvPr/>
        </p:nvSpPr>
        <p:spPr>
          <a:xfrm>
            <a:off x="658368" y="1536192"/>
            <a:ext cx="457200" cy="457200"/>
          </a:xfrm>
          <a:prstGeom prst="rect">
            <a:avLst/>
          </a:prstGeom>
          <a:noFill/>
          <a:ln/>
        </p:spPr>
        <p:txBody>
          <a:bodyPr wrap="square" lIns="0" tIns="0" rIns="0" bIns="0"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325880" y="1481328"/>
            <a:ext cx="10332720" cy="960120"/>
          </a:xfrm>
          <a:prstGeom prst="rect">
            <a:avLst/>
          </a:prstGeom>
          <a:noFill/>
          <a:ln/>
        </p:spPr>
        <p:txBody>
          <a:bodyPr wrap="square" lIns="0" tIns="0" rIns="0" bIns="0" rtlCol="0" anchor="t"/>
          <a:lstStyle/>
          <a:p>
            <a:pPr indent="0" marL="0">
              <a:lnSpc>
                <a:spcPct val="112000"/>
              </a:lnSpc>
              <a:spcAft>
                <a:spcPts val="300"/>
              </a:spcAft>
              <a:buNone/>
            </a:pPr>
            <a:r>
              <a:rPr lang="en-US" sz="1650" b="1" dirty="0">
                <a:solidFill>
                  <a:srgbClr val="FFFFFF"/>
                </a:solidFill>
                <a:latin typeface="Calibri" pitchFamily="34" charset="0"/>
                <a:ea typeface="Calibri" pitchFamily="34" charset="-122"/>
                <a:cs typeface="Calibri" pitchFamily="34" charset="-120"/>
              </a:rPr>
              <a:t>Repo là nhà duy nhất của tri thức spec</a:t>
            </a:r>
            <a:endParaRPr lang="en-US" sz="1650" dirty="0"/>
          </a:p>
          <a:p>
            <a:pPr indent="0" marL="0">
              <a:lnSpc>
                <a:spcPct val="112000"/>
              </a:lnSpc>
              <a:spcAft>
                <a:spcPts val="300"/>
              </a:spcAft>
              <a:buNone/>
            </a:pPr>
            <a:r>
              <a:rPr lang="en-US" sz="1250" dirty="0">
                <a:solidFill>
                  <a:srgbClr val="CADCFC"/>
                </a:solidFill>
                <a:latin typeface="Calibri" pitchFamily="34" charset="0"/>
                <a:ea typeface="Calibri" pitchFamily="34" charset="-122"/>
                <a:cs typeface="Calibri" pitchFamily="34" charset="-120"/>
              </a:rPr>
              <a:t>Thứ không nằm trong docs/ — team và AI coi như không biết.</a:t>
            </a:r>
            <a:endParaRPr lang="en-US" sz="1650" dirty="0"/>
          </a:p>
        </p:txBody>
      </p:sp>
      <p:sp>
        <p:nvSpPr>
          <p:cNvPr id="7" name="Shape 5"/>
          <p:cNvSpPr/>
          <p:nvPr/>
        </p:nvSpPr>
        <p:spPr>
          <a:xfrm>
            <a:off x="658368" y="2578608"/>
            <a:ext cx="457200" cy="457200"/>
          </a:xfrm>
          <a:prstGeom prst="ellipse">
            <a:avLst/>
          </a:prstGeom>
          <a:solidFill>
            <a:srgbClr val="02C39A"/>
          </a:solidFill>
          <a:ln/>
        </p:spPr>
      </p:sp>
      <p:sp>
        <p:nvSpPr>
          <p:cNvPr id="8" name="Text 6"/>
          <p:cNvSpPr/>
          <p:nvPr/>
        </p:nvSpPr>
        <p:spPr>
          <a:xfrm>
            <a:off x="658368" y="2560320"/>
            <a:ext cx="457200" cy="457200"/>
          </a:xfrm>
          <a:prstGeom prst="rect">
            <a:avLst/>
          </a:prstGeom>
          <a:noFill/>
          <a:ln/>
        </p:spPr>
        <p:txBody>
          <a:bodyPr wrap="square" lIns="0" tIns="0" rIns="0" bIns="0"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2</a:t>
            </a:r>
            <a:endParaRPr lang="en-US" sz="1800" dirty="0"/>
          </a:p>
        </p:txBody>
      </p:sp>
      <p:sp>
        <p:nvSpPr>
          <p:cNvPr id="9" name="Text 7"/>
          <p:cNvSpPr/>
          <p:nvPr/>
        </p:nvSpPr>
        <p:spPr>
          <a:xfrm>
            <a:off x="1325880" y="2505456"/>
            <a:ext cx="10332720" cy="960120"/>
          </a:xfrm>
          <a:prstGeom prst="rect">
            <a:avLst/>
          </a:prstGeom>
          <a:noFill/>
          <a:ln/>
        </p:spPr>
        <p:txBody>
          <a:bodyPr wrap="square" lIns="0" tIns="0" rIns="0" bIns="0" rtlCol="0" anchor="t"/>
          <a:lstStyle/>
          <a:p>
            <a:pPr indent="0" marL="0">
              <a:lnSpc>
                <a:spcPct val="112000"/>
              </a:lnSpc>
              <a:spcAft>
                <a:spcPts val="300"/>
              </a:spcAft>
              <a:buNone/>
            </a:pPr>
            <a:r>
              <a:rPr lang="en-US" sz="1650" b="1" dirty="0">
                <a:solidFill>
                  <a:srgbClr val="FFFFFF"/>
                </a:solidFill>
                <a:latin typeface="Calibri" pitchFamily="34" charset="0"/>
                <a:ea typeface="Calibri" pitchFamily="34" charset="-122"/>
                <a:cs typeface="Calibri" pitchFamily="34" charset="-120"/>
              </a:rPr>
              <a:t>Chuyển đổi ngay theo sự kiện</a:t>
            </a:r>
            <a:endParaRPr lang="en-US" sz="1650" dirty="0"/>
          </a:p>
          <a:p>
            <a:pPr indent="0" marL="0">
              <a:lnSpc>
                <a:spcPct val="112000"/>
              </a:lnSpc>
              <a:spcAft>
                <a:spcPts val="300"/>
              </a:spcAft>
              <a:buNone/>
            </a:pPr>
            <a:r>
              <a:rPr lang="en-US" sz="1250" dirty="0">
                <a:solidFill>
                  <a:srgbClr val="CADCFC"/>
                </a:solidFill>
                <a:latin typeface="Calibri" pitchFamily="34" charset="0"/>
                <a:ea typeface="Calibri" pitchFamily="34" charset="-122"/>
                <a:cs typeface="Calibri" pitchFamily="34" charset="-120"/>
              </a:rPr>
              <a:t>Sau mỗi buổi họp / quyết định: SE nắm dự án dành 10–15 phút cùng AI đưa nội dung vào repo. Không dồn.</a:t>
            </a:r>
            <a:endParaRPr lang="en-US" sz="1650" dirty="0"/>
          </a:p>
        </p:txBody>
      </p:sp>
      <p:sp>
        <p:nvSpPr>
          <p:cNvPr id="10" name="Shape 8"/>
          <p:cNvSpPr/>
          <p:nvPr/>
        </p:nvSpPr>
        <p:spPr>
          <a:xfrm>
            <a:off x="658368" y="3602736"/>
            <a:ext cx="457200" cy="457200"/>
          </a:xfrm>
          <a:prstGeom prst="ellipse">
            <a:avLst/>
          </a:prstGeom>
          <a:solidFill>
            <a:srgbClr val="02C39A"/>
          </a:solidFill>
          <a:ln/>
        </p:spPr>
      </p:sp>
      <p:sp>
        <p:nvSpPr>
          <p:cNvPr id="11" name="Text 9"/>
          <p:cNvSpPr/>
          <p:nvPr/>
        </p:nvSpPr>
        <p:spPr>
          <a:xfrm>
            <a:off x="658368" y="3584448"/>
            <a:ext cx="457200" cy="457200"/>
          </a:xfrm>
          <a:prstGeom prst="rect">
            <a:avLst/>
          </a:prstGeom>
          <a:noFill/>
          <a:ln/>
        </p:spPr>
        <p:txBody>
          <a:bodyPr wrap="square" lIns="0" tIns="0" rIns="0" bIns="0"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3</a:t>
            </a:r>
            <a:endParaRPr lang="en-US" sz="1800" dirty="0"/>
          </a:p>
        </p:txBody>
      </p:sp>
      <p:sp>
        <p:nvSpPr>
          <p:cNvPr id="12" name="Text 10"/>
          <p:cNvSpPr/>
          <p:nvPr/>
        </p:nvSpPr>
        <p:spPr>
          <a:xfrm>
            <a:off x="1325880" y="3529584"/>
            <a:ext cx="10332720" cy="960120"/>
          </a:xfrm>
          <a:prstGeom prst="rect">
            <a:avLst/>
          </a:prstGeom>
          <a:noFill/>
          <a:ln/>
        </p:spPr>
        <p:txBody>
          <a:bodyPr wrap="square" lIns="0" tIns="0" rIns="0" bIns="0" rtlCol="0" anchor="t"/>
          <a:lstStyle/>
          <a:p>
            <a:pPr indent="0" marL="0">
              <a:lnSpc>
                <a:spcPct val="112000"/>
              </a:lnSpc>
              <a:spcAft>
                <a:spcPts val="300"/>
              </a:spcAft>
              <a:buNone/>
            </a:pPr>
            <a:r>
              <a:rPr lang="en-US" sz="1650" b="1" dirty="0">
                <a:solidFill>
                  <a:srgbClr val="FFFFFF"/>
                </a:solidFill>
                <a:latin typeface="Calibri" pitchFamily="34" charset="0"/>
                <a:ea typeface="Calibri" pitchFamily="34" charset="-122"/>
                <a:cs typeface="Calibri" pitchFamily="34" charset="-120"/>
              </a:rPr>
              <a:t>Bàn xong phải ghi — chưa ghi là chưa xong</a:t>
            </a:r>
            <a:endParaRPr lang="en-US" sz="1650" dirty="0"/>
          </a:p>
          <a:p>
            <a:pPr indent="0" marL="0">
              <a:lnSpc>
                <a:spcPct val="112000"/>
              </a:lnSpc>
              <a:spcAft>
                <a:spcPts val="300"/>
              </a:spcAft>
              <a:buNone/>
            </a:pPr>
            <a:r>
              <a:rPr lang="en-US" sz="1250" dirty="0">
                <a:solidFill>
                  <a:srgbClr val="CADCFC"/>
                </a:solidFill>
                <a:latin typeface="Calibri" pitchFamily="34" charset="0"/>
                <a:ea typeface="Calibri" pitchFamily="34" charset="-122"/>
                <a:cs typeface="Calibri" pitchFamily="34" charset="-120"/>
              </a:rPr>
              <a:t>Kết thúc mỗi phiên bằng câu hỏi cố định: “Những gì ta đã chốt hôm nay mà docs chưa có?”</a:t>
            </a:r>
            <a:endParaRPr lang="en-US" sz="1650" dirty="0"/>
          </a:p>
        </p:txBody>
      </p:sp>
      <p:sp>
        <p:nvSpPr>
          <p:cNvPr id="13" name="Shape 11"/>
          <p:cNvSpPr/>
          <p:nvPr/>
        </p:nvSpPr>
        <p:spPr>
          <a:xfrm>
            <a:off x="658368" y="4626864"/>
            <a:ext cx="457200" cy="457200"/>
          </a:xfrm>
          <a:prstGeom prst="ellipse">
            <a:avLst/>
          </a:prstGeom>
          <a:solidFill>
            <a:srgbClr val="02C39A"/>
          </a:solidFill>
          <a:ln/>
        </p:spPr>
      </p:sp>
      <p:sp>
        <p:nvSpPr>
          <p:cNvPr id="14" name="Text 12"/>
          <p:cNvSpPr/>
          <p:nvPr/>
        </p:nvSpPr>
        <p:spPr>
          <a:xfrm>
            <a:off x="658368" y="4608576"/>
            <a:ext cx="457200" cy="457200"/>
          </a:xfrm>
          <a:prstGeom prst="rect">
            <a:avLst/>
          </a:prstGeom>
          <a:noFill/>
          <a:ln/>
        </p:spPr>
        <p:txBody>
          <a:bodyPr wrap="square" lIns="0" tIns="0" rIns="0" bIns="0"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4</a:t>
            </a:r>
            <a:endParaRPr lang="en-US" sz="1800" dirty="0"/>
          </a:p>
        </p:txBody>
      </p:sp>
      <p:sp>
        <p:nvSpPr>
          <p:cNvPr id="15" name="Text 13"/>
          <p:cNvSpPr/>
          <p:nvPr/>
        </p:nvSpPr>
        <p:spPr>
          <a:xfrm>
            <a:off x="1325880" y="4553712"/>
            <a:ext cx="10332720" cy="960120"/>
          </a:xfrm>
          <a:prstGeom prst="rect">
            <a:avLst/>
          </a:prstGeom>
          <a:noFill/>
          <a:ln/>
        </p:spPr>
        <p:txBody>
          <a:bodyPr wrap="square" lIns="0" tIns="0" rIns="0" bIns="0" rtlCol="0" anchor="t"/>
          <a:lstStyle/>
          <a:p>
            <a:pPr indent="0" marL="0">
              <a:lnSpc>
                <a:spcPct val="112000"/>
              </a:lnSpc>
              <a:spcAft>
                <a:spcPts val="300"/>
              </a:spcAft>
              <a:buNone/>
            </a:pPr>
            <a:r>
              <a:rPr lang="en-US" sz="1650" b="1" dirty="0">
                <a:solidFill>
                  <a:srgbClr val="FFFFFF"/>
                </a:solidFill>
                <a:latin typeface="Calibri" pitchFamily="34" charset="0"/>
                <a:ea typeface="Calibri" pitchFamily="34" charset="-122"/>
                <a:cs typeface="Calibri" pitchFamily="34" charset="-120"/>
              </a:rPr>
              <a:t>Review theo độ khó đảo ngược</a:t>
            </a:r>
            <a:endParaRPr lang="en-US" sz="1650" dirty="0"/>
          </a:p>
          <a:p>
            <a:pPr indent="0" marL="0">
              <a:lnSpc>
                <a:spcPct val="112000"/>
              </a:lnSpc>
              <a:spcAft>
                <a:spcPts val="300"/>
              </a:spcAft>
              <a:buNone/>
            </a:pPr>
            <a:r>
              <a:rPr lang="en-US" sz="1250" dirty="0">
                <a:solidFill>
                  <a:srgbClr val="CADCFC"/>
                </a:solidFill>
                <a:latin typeface="Calibri" pitchFamily="34" charset="0"/>
                <a:ea typeface="Calibri" pitchFamily="34" charset="-122"/>
                <a:cs typeface="Calibri" pitchFamily="34" charset="-120"/>
              </a:rPr>
              <a:t>Đã chốt với khách hàng (interface, phạm vi, tiền) → review từng chữ. Diễn giải nội bộ → review nhẹ.</a:t>
            </a:r>
            <a:endParaRPr lang="en-US" sz="1650" dirty="0"/>
          </a:p>
        </p:txBody>
      </p:sp>
      <p:sp>
        <p:nvSpPr>
          <p:cNvPr id="16" name="Shape 14"/>
          <p:cNvSpPr/>
          <p:nvPr/>
        </p:nvSpPr>
        <p:spPr>
          <a:xfrm>
            <a:off x="658368" y="5650992"/>
            <a:ext cx="457200" cy="457200"/>
          </a:xfrm>
          <a:prstGeom prst="ellipse">
            <a:avLst/>
          </a:prstGeom>
          <a:solidFill>
            <a:srgbClr val="02C39A"/>
          </a:solidFill>
          <a:ln/>
        </p:spPr>
      </p:sp>
      <p:sp>
        <p:nvSpPr>
          <p:cNvPr id="17" name="Text 15"/>
          <p:cNvSpPr/>
          <p:nvPr/>
        </p:nvSpPr>
        <p:spPr>
          <a:xfrm>
            <a:off x="658368" y="5632704"/>
            <a:ext cx="457200" cy="457200"/>
          </a:xfrm>
          <a:prstGeom prst="rect">
            <a:avLst/>
          </a:prstGeom>
          <a:noFill/>
          <a:ln/>
        </p:spPr>
        <p:txBody>
          <a:bodyPr wrap="square" lIns="0" tIns="0" rIns="0" bIns="0"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5</a:t>
            </a:r>
            <a:endParaRPr lang="en-US" sz="1800" dirty="0"/>
          </a:p>
        </p:txBody>
      </p:sp>
      <p:sp>
        <p:nvSpPr>
          <p:cNvPr id="18" name="Text 16"/>
          <p:cNvSpPr/>
          <p:nvPr/>
        </p:nvSpPr>
        <p:spPr>
          <a:xfrm>
            <a:off x="1325880" y="5577840"/>
            <a:ext cx="10332720" cy="960120"/>
          </a:xfrm>
          <a:prstGeom prst="rect">
            <a:avLst/>
          </a:prstGeom>
          <a:noFill/>
          <a:ln/>
        </p:spPr>
        <p:txBody>
          <a:bodyPr wrap="square" lIns="0" tIns="0" rIns="0" bIns="0" rtlCol="0" anchor="t"/>
          <a:lstStyle/>
          <a:p>
            <a:pPr indent="0" marL="0">
              <a:lnSpc>
                <a:spcPct val="112000"/>
              </a:lnSpc>
              <a:spcAft>
                <a:spcPts val="300"/>
              </a:spcAft>
              <a:buNone/>
            </a:pPr>
            <a:r>
              <a:rPr lang="en-US" sz="1650" b="1" dirty="0">
                <a:solidFill>
                  <a:srgbClr val="FFFFFF"/>
                </a:solidFill>
                <a:latin typeface="Calibri" pitchFamily="34" charset="0"/>
                <a:ea typeface="Calibri" pitchFamily="34" charset="-122"/>
                <a:cs typeface="Calibri" pitchFamily="34" charset="-120"/>
              </a:rPr>
              <a:t>Đẩy cho AI việc AI làm tốt</a:t>
            </a:r>
            <a:endParaRPr lang="en-US" sz="1650" dirty="0"/>
          </a:p>
          <a:p>
            <a:pPr indent="0" marL="0">
              <a:lnSpc>
                <a:spcPct val="112000"/>
              </a:lnSpc>
              <a:spcAft>
                <a:spcPts val="300"/>
              </a:spcAft>
              <a:buNone/>
            </a:pPr>
            <a:r>
              <a:rPr lang="en-US" sz="1250" dirty="0">
                <a:solidFill>
                  <a:srgbClr val="CADCFC"/>
                </a:solidFill>
                <a:latin typeface="Calibri" pitchFamily="34" charset="0"/>
                <a:ea typeface="Calibri" pitchFamily="34" charset="-122"/>
                <a:cs typeface="Calibri" pitchFamily="34" charset="-120"/>
              </a:rPr>
              <a:t>Soạn thảo, chuyển đổi, vẽ sơ đồ, giữ nhất quán — việc của AI. Quyết định, đàm phán, thẩm định — việc của người.</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10972800" cy="292608"/>
          </a:xfrm>
          <a:prstGeom prst="rect">
            <a:avLst/>
          </a:prstGeom>
          <a:noFill/>
          <a:ln/>
        </p:spPr>
        <p:txBody>
          <a:bodyPr wrap="square" lIns="0" tIns="0" rIns="0" bIns="0" rtlCol="0" anchor="ctr"/>
          <a:lstStyle/>
          <a:p>
            <a:pPr indent="0" marL="0">
              <a:buNone/>
            </a:pPr>
            <a:r>
              <a:rPr lang="en-US" sz="1200" b="1" spc="300" kern="0" dirty="0">
                <a:solidFill>
                  <a:srgbClr val="02C39A"/>
                </a:solidFill>
                <a:latin typeface="Calibri" pitchFamily="34" charset="0"/>
                <a:ea typeface="Calibri" pitchFamily="34" charset="-122"/>
                <a:cs typeface="Calibri" pitchFamily="34" charset="-120"/>
              </a:rPr>
              <a:t>VẬN HÀNH</a:t>
            </a:r>
            <a:endParaRPr lang="en-US" sz="1200" dirty="0"/>
          </a:p>
        </p:txBody>
      </p:sp>
      <p:sp>
        <p:nvSpPr>
          <p:cNvPr id="3" name="Text 1"/>
          <p:cNvSpPr/>
          <p:nvPr/>
        </p:nvSpPr>
        <p:spPr>
          <a:xfrm>
            <a:off x="548640" y="621792"/>
            <a:ext cx="11064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Nghi thức chuyển đổi Drive → repo</a:t>
            </a:r>
            <a:endParaRPr lang="en-US" sz="3000" dirty="0"/>
          </a:p>
        </p:txBody>
      </p:sp>
      <p:sp>
        <p:nvSpPr>
          <p:cNvPr id="4" name="Text 2"/>
          <p:cNvSpPr/>
          <p:nvPr/>
        </p:nvSpPr>
        <p:spPr>
          <a:xfrm>
            <a:off x="566928" y="1280160"/>
            <a:ext cx="10972800" cy="365760"/>
          </a:xfrm>
          <a:prstGeom prst="rect">
            <a:avLst/>
          </a:prstGeom>
          <a:noFill/>
          <a:ln/>
        </p:spPr>
        <p:txBody>
          <a:bodyPr wrap="square" lIns="0" tIns="0" rIns="0" bIns="0" rtlCol="0" anchor="ctr"/>
          <a:lstStyle/>
          <a:p>
            <a:pPr indent="0" marL="0">
              <a:buNone/>
            </a:pPr>
            <a:r>
              <a:rPr lang="en-US" sz="1400" i="1" dirty="0">
                <a:solidFill>
                  <a:srgbClr val="5A6178"/>
                </a:solidFill>
                <a:latin typeface="Calibri" pitchFamily="34" charset="0"/>
                <a:ea typeface="Calibri" pitchFamily="34" charset="-122"/>
                <a:cs typeface="Calibri" pitchFamily="34" charset="-120"/>
              </a:rPr>
              <a:t>Người thực hiện: SE nắm dự án — ngay sau buổi họp / quyết định</a:t>
            </a:r>
            <a:endParaRPr lang="en-US" sz="1400" dirty="0"/>
          </a:p>
        </p:txBody>
      </p:sp>
      <p:sp>
        <p:nvSpPr>
          <p:cNvPr id="5" name="Shape 3"/>
          <p:cNvSpPr/>
          <p:nvPr/>
        </p:nvSpPr>
        <p:spPr>
          <a:xfrm>
            <a:off x="658368" y="1874520"/>
            <a:ext cx="457200" cy="457200"/>
          </a:xfrm>
          <a:prstGeom prst="ellipse">
            <a:avLst/>
          </a:prstGeom>
          <a:solidFill>
            <a:srgbClr val="1E2761"/>
          </a:solidFill>
          <a:ln/>
        </p:spPr>
      </p:sp>
      <p:sp>
        <p:nvSpPr>
          <p:cNvPr id="6" name="Text 4"/>
          <p:cNvSpPr/>
          <p:nvPr/>
        </p:nvSpPr>
        <p:spPr>
          <a:xfrm>
            <a:off x="658368" y="185623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Shape 5"/>
          <p:cNvSpPr/>
          <p:nvPr/>
        </p:nvSpPr>
        <p:spPr>
          <a:xfrm>
            <a:off x="886968" y="2359152"/>
            <a:ext cx="0" cy="502920"/>
          </a:xfrm>
          <a:prstGeom prst="line">
            <a:avLst/>
          </a:prstGeom>
          <a:noFill/>
          <a:ln w="31750">
            <a:solidFill>
              <a:srgbClr val="CADCFC"/>
            </a:solidFill>
            <a:prstDash val="solid"/>
          </a:ln>
        </p:spPr>
      </p:sp>
      <p:sp>
        <p:nvSpPr>
          <p:cNvPr id="8" name="Text 6"/>
          <p:cNvSpPr/>
          <p:nvPr/>
        </p:nvSpPr>
        <p:spPr>
          <a:xfrm>
            <a:off x="1298448" y="1810512"/>
            <a:ext cx="4754880" cy="914400"/>
          </a:xfrm>
          <a:prstGeom prst="rect">
            <a:avLst/>
          </a:prstGeom>
          <a:noFill/>
          <a:ln/>
        </p:spPr>
        <p:txBody>
          <a:bodyPr wrap="square" lIns="0" tIns="0" rIns="0" bIns="0" rtlCol="0" anchor="t"/>
          <a:lstStyle/>
          <a:p>
            <a:pPr indent="0" marL="0">
              <a:lnSpc>
                <a:spcPct val="108000"/>
              </a:lnSpc>
              <a:buNone/>
            </a:pPr>
            <a:r>
              <a:rPr lang="en-US" sz="1550" b="1" dirty="0">
                <a:solidFill>
                  <a:srgbClr val="1E2761"/>
                </a:solidFill>
                <a:latin typeface="Calibri" pitchFamily="34" charset="0"/>
                <a:ea typeface="Calibri" pitchFamily="34" charset="-122"/>
                <a:cs typeface="Calibri" pitchFamily="34" charset="-120"/>
              </a:rPr>
              <a:t>Đưa nguyên liệu cho AI</a:t>
            </a:r>
            <a:endParaRPr lang="en-US" sz="1550" dirty="0"/>
          </a:p>
          <a:p>
            <a:pPr indent="0" marL="0">
              <a:lnSpc>
                <a:spcPct val="108000"/>
              </a:lnSpc>
              <a:buNone/>
            </a:pPr>
            <a:r>
              <a:rPr lang="en-US" sz="1200" dirty="0">
                <a:solidFill>
                  <a:srgbClr val="5A6178"/>
                </a:solidFill>
                <a:latin typeface="Calibri" pitchFamily="34" charset="0"/>
                <a:ea typeface="Calibri" pitchFamily="34" charset="-122"/>
                <a:cs typeface="Calibri" pitchFamily="34" charset="-120"/>
              </a:rPr>
              <a:t>File Docs / Sheet / Slide + bối cảnh: “kết quả buổi họp ngày X về chủ đề Y”</a:t>
            </a:r>
            <a:endParaRPr lang="en-US" sz="1550" dirty="0"/>
          </a:p>
        </p:txBody>
      </p:sp>
      <p:sp>
        <p:nvSpPr>
          <p:cNvPr id="9" name="Shape 7"/>
          <p:cNvSpPr/>
          <p:nvPr/>
        </p:nvSpPr>
        <p:spPr>
          <a:xfrm>
            <a:off x="658368" y="2907792"/>
            <a:ext cx="457200" cy="457200"/>
          </a:xfrm>
          <a:prstGeom prst="ellipse">
            <a:avLst/>
          </a:prstGeom>
          <a:solidFill>
            <a:srgbClr val="1E2761"/>
          </a:solidFill>
          <a:ln/>
        </p:spPr>
      </p:sp>
      <p:sp>
        <p:nvSpPr>
          <p:cNvPr id="10" name="Text 8"/>
          <p:cNvSpPr/>
          <p:nvPr/>
        </p:nvSpPr>
        <p:spPr>
          <a:xfrm>
            <a:off x="658368" y="288950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Shape 9"/>
          <p:cNvSpPr/>
          <p:nvPr/>
        </p:nvSpPr>
        <p:spPr>
          <a:xfrm>
            <a:off x="886968" y="3392424"/>
            <a:ext cx="0" cy="502920"/>
          </a:xfrm>
          <a:prstGeom prst="line">
            <a:avLst/>
          </a:prstGeom>
          <a:noFill/>
          <a:ln w="31750">
            <a:solidFill>
              <a:srgbClr val="CADCFC"/>
            </a:solidFill>
            <a:prstDash val="solid"/>
          </a:ln>
        </p:spPr>
      </p:sp>
      <p:sp>
        <p:nvSpPr>
          <p:cNvPr id="12" name="Text 10"/>
          <p:cNvSpPr/>
          <p:nvPr/>
        </p:nvSpPr>
        <p:spPr>
          <a:xfrm>
            <a:off x="1298448" y="2843784"/>
            <a:ext cx="4754880" cy="914400"/>
          </a:xfrm>
          <a:prstGeom prst="rect">
            <a:avLst/>
          </a:prstGeom>
          <a:noFill/>
          <a:ln/>
        </p:spPr>
        <p:txBody>
          <a:bodyPr wrap="square" lIns="0" tIns="0" rIns="0" bIns="0" rtlCol="0" anchor="t"/>
          <a:lstStyle/>
          <a:p>
            <a:pPr indent="0" marL="0">
              <a:lnSpc>
                <a:spcPct val="108000"/>
              </a:lnSpc>
              <a:buNone/>
            </a:pPr>
            <a:r>
              <a:rPr lang="en-US" sz="1550" b="1" dirty="0">
                <a:solidFill>
                  <a:srgbClr val="1E2761"/>
                </a:solidFill>
                <a:latin typeface="Calibri" pitchFamily="34" charset="0"/>
                <a:ea typeface="Calibri" pitchFamily="34" charset="-122"/>
                <a:cs typeface="Calibri" pitchFamily="34" charset="-120"/>
              </a:rPr>
              <a:t>AI chuyển đổi thành markdown</a:t>
            </a:r>
            <a:endParaRPr lang="en-US" sz="1550" dirty="0"/>
          </a:p>
          <a:p>
            <a:pPr indent="0" marL="0">
              <a:lnSpc>
                <a:spcPct val="108000"/>
              </a:lnSpc>
              <a:buNone/>
            </a:pPr>
            <a:r>
              <a:rPr lang="en-US" sz="1200" dirty="0">
                <a:solidFill>
                  <a:srgbClr val="5A6178"/>
                </a:solidFill>
                <a:latin typeface="Calibri" pitchFamily="34" charset="0"/>
                <a:ea typeface="Calibri" pitchFamily="34" charset="-122"/>
                <a:cs typeface="Calibri" pitchFamily="34" charset="-120"/>
              </a:rPr>
              <a:t>AI tự quyết vị trí lưu theo cơ cấu docs, tự cập nhật mục lục</a:t>
            </a:r>
            <a:endParaRPr lang="en-US" sz="1550" dirty="0"/>
          </a:p>
        </p:txBody>
      </p:sp>
      <p:sp>
        <p:nvSpPr>
          <p:cNvPr id="13" name="Shape 11"/>
          <p:cNvSpPr/>
          <p:nvPr/>
        </p:nvSpPr>
        <p:spPr>
          <a:xfrm>
            <a:off x="658368" y="3941064"/>
            <a:ext cx="457200" cy="457200"/>
          </a:xfrm>
          <a:prstGeom prst="ellipse">
            <a:avLst/>
          </a:prstGeom>
          <a:solidFill>
            <a:srgbClr val="1E2761"/>
          </a:solidFill>
          <a:ln/>
        </p:spPr>
      </p:sp>
      <p:sp>
        <p:nvSpPr>
          <p:cNvPr id="14" name="Text 12"/>
          <p:cNvSpPr/>
          <p:nvPr/>
        </p:nvSpPr>
        <p:spPr>
          <a:xfrm>
            <a:off x="658368" y="3922776"/>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5" name="Shape 13"/>
          <p:cNvSpPr/>
          <p:nvPr/>
        </p:nvSpPr>
        <p:spPr>
          <a:xfrm>
            <a:off x="886968" y="4425696"/>
            <a:ext cx="0" cy="502920"/>
          </a:xfrm>
          <a:prstGeom prst="line">
            <a:avLst/>
          </a:prstGeom>
          <a:noFill/>
          <a:ln w="31750">
            <a:solidFill>
              <a:srgbClr val="CADCFC"/>
            </a:solidFill>
            <a:prstDash val="solid"/>
          </a:ln>
        </p:spPr>
      </p:sp>
      <p:sp>
        <p:nvSpPr>
          <p:cNvPr id="16" name="Text 14"/>
          <p:cNvSpPr/>
          <p:nvPr/>
        </p:nvSpPr>
        <p:spPr>
          <a:xfrm>
            <a:off x="1298448" y="3877056"/>
            <a:ext cx="4754880" cy="914400"/>
          </a:xfrm>
          <a:prstGeom prst="rect">
            <a:avLst/>
          </a:prstGeom>
          <a:noFill/>
          <a:ln/>
        </p:spPr>
        <p:txBody>
          <a:bodyPr wrap="square" lIns="0" tIns="0" rIns="0" bIns="0" rtlCol="0" anchor="t"/>
          <a:lstStyle/>
          <a:p>
            <a:pPr indent="0" marL="0">
              <a:lnSpc>
                <a:spcPct val="108000"/>
              </a:lnSpc>
              <a:buNone/>
            </a:pPr>
            <a:r>
              <a:rPr lang="en-US" sz="1550" b="1" dirty="0">
                <a:solidFill>
                  <a:srgbClr val="1E2761"/>
                </a:solidFill>
                <a:latin typeface="Calibri" pitchFamily="34" charset="0"/>
                <a:ea typeface="Calibri" pitchFamily="34" charset="-122"/>
                <a:cs typeface="Calibri" pitchFamily="34" charset="-120"/>
              </a:rPr>
              <a:t>SE kiểm tra ngay lập tức</a:t>
            </a:r>
            <a:endParaRPr lang="en-US" sz="1550" dirty="0"/>
          </a:p>
          <a:p>
            <a:pPr indent="0" marL="0">
              <a:lnSpc>
                <a:spcPct val="108000"/>
              </a:lnSpc>
              <a:buNone/>
            </a:pPr>
            <a:r>
              <a:rPr lang="en-US" sz="1200" dirty="0">
                <a:solidFill>
                  <a:srgbClr val="5A6178"/>
                </a:solidFill>
                <a:latin typeface="Calibri" pitchFamily="34" charset="0"/>
                <a:ea typeface="Calibri" pitchFamily="34" charset="-122"/>
                <a:cs typeface="Calibri" pitchFamily="34" charset="-120"/>
              </a:rPr>
              <a:t>Slide / Excel vẽ tùy hứng rất dễ bị AI hiểu sai — kiểm tra bằng 2 kỹ thuật bên phải</a:t>
            </a:r>
            <a:endParaRPr lang="en-US" sz="1550" dirty="0"/>
          </a:p>
        </p:txBody>
      </p:sp>
      <p:sp>
        <p:nvSpPr>
          <p:cNvPr id="17" name="Shape 15"/>
          <p:cNvSpPr/>
          <p:nvPr/>
        </p:nvSpPr>
        <p:spPr>
          <a:xfrm>
            <a:off x="658368" y="4974336"/>
            <a:ext cx="457200" cy="457200"/>
          </a:xfrm>
          <a:prstGeom prst="ellipse">
            <a:avLst/>
          </a:prstGeom>
          <a:solidFill>
            <a:srgbClr val="1E2761"/>
          </a:solidFill>
          <a:ln/>
        </p:spPr>
      </p:sp>
      <p:sp>
        <p:nvSpPr>
          <p:cNvPr id="18" name="Text 16"/>
          <p:cNvSpPr/>
          <p:nvPr/>
        </p:nvSpPr>
        <p:spPr>
          <a:xfrm>
            <a:off x="658368" y="495604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9" name="Text 17"/>
          <p:cNvSpPr/>
          <p:nvPr/>
        </p:nvSpPr>
        <p:spPr>
          <a:xfrm>
            <a:off x="1298448" y="4910328"/>
            <a:ext cx="4754880" cy="914400"/>
          </a:xfrm>
          <a:prstGeom prst="rect">
            <a:avLst/>
          </a:prstGeom>
          <a:noFill/>
          <a:ln/>
        </p:spPr>
        <p:txBody>
          <a:bodyPr wrap="square" lIns="0" tIns="0" rIns="0" bIns="0" rtlCol="0" anchor="t"/>
          <a:lstStyle/>
          <a:p>
            <a:pPr indent="0" marL="0">
              <a:lnSpc>
                <a:spcPct val="108000"/>
              </a:lnSpc>
              <a:buNone/>
            </a:pPr>
            <a:r>
              <a:rPr lang="en-US" sz="1550" b="1" dirty="0">
                <a:solidFill>
                  <a:srgbClr val="1E2761"/>
                </a:solidFill>
                <a:latin typeface="Calibri" pitchFamily="34" charset="0"/>
                <a:ea typeface="Calibri" pitchFamily="34" charset="-122"/>
                <a:cs typeface="Calibri" pitchFamily="34" charset="-120"/>
              </a:rPr>
              <a:t>Chốt</a:t>
            </a:r>
            <a:endParaRPr lang="en-US" sz="1550" dirty="0"/>
          </a:p>
          <a:p>
            <a:pPr indent="0" marL="0">
              <a:lnSpc>
                <a:spcPct val="108000"/>
              </a:lnSpc>
              <a:buNone/>
            </a:pPr>
            <a:r>
              <a:rPr lang="en-US" sz="1200" dirty="0">
                <a:solidFill>
                  <a:srgbClr val="5A6178"/>
                </a:solidFill>
                <a:latin typeface="Calibri" pitchFamily="34" charset="0"/>
                <a:ea typeface="Calibri" pitchFamily="34" charset="-122"/>
                <a:cs typeface="Calibri" pitchFamily="34" charset="-120"/>
              </a:rPr>
              <a:t>Xác nhận, cập nhật status, commit</a:t>
            </a:r>
            <a:endParaRPr lang="en-US" sz="1550" dirty="0"/>
          </a:p>
        </p:txBody>
      </p:sp>
      <p:sp>
        <p:nvSpPr>
          <p:cNvPr id="20" name="Shape 18"/>
          <p:cNvSpPr/>
          <p:nvPr/>
        </p:nvSpPr>
        <p:spPr>
          <a:xfrm>
            <a:off x="6446520" y="1783080"/>
            <a:ext cx="5193792" cy="3291840"/>
          </a:xfrm>
          <a:prstGeom prst="roundRect">
            <a:avLst>
              <a:gd name="adj" fmla="val 2500"/>
            </a:avLst>
          </a:prstGeom>
          <a:solidFill>
            <a:srgbClr val="EEF3FB"/>
          </a:solidFill>
          <a:ln/>
          <a:effectLst>
            <a:outerShdw sx="100000" sy="100000" kx="0" ky="0" algn="bl" rotWithShape="0" blurRad="88900" dist="25400" dir="5400000">
              <a:srgbClr val="1E2761">
                <a:alpha val="22000"/>
              </a:srgbClr>
            </a:outerShdw>
          </a:effectLst>
        </p:spPr>
      </p:sp>
      <p:sp>
        <p:nvSpPr>
          <p:cNvPr id="21" name="Text 19"/>
          <p:cNvSpPr/>
          <p:nvPr/>
        </p:nvSpPr>
        <p:spPr>
          <a:xfrm>
            <a:off x="6766560" y="2011680"/>
            <a:ext cx="4553712" cy="41148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Hai kỹ thuật kiểm tra</a:t>
            </a:r>
            <a:endParaRPr lang="en-US" sz="1700" dirty="0"/>
          </a:p>
        </p:txBody>
      </p:sp>
      <p:sp>
        <p:nvSpPr>
          <p:cNvPr id="22" name="Shape 20"/>
          <p:cNvSpPr/>
          <p:nvPr/>
        </p:nvSpPr>
        <p:spPr>
          <a:xfrm>
            <a:off x="6766560" y="2560320"/>
            <a:ext cx="475488" cy="475488"/>
          </a:xfrm>
          <a:prstGeom prst="ellipse">
            <a:avLst/>
          </a:prstGeom>
          <a:solidFill>
            <a:srgbClr val="CADCFC"/>
          </a:solidFill>
          <a:ln/>
        </p:spPr>
      </p:sp>
      <p:pic>
        <p:nvPicPr>
          <p:cNvPr id="23" name="Image 0" descr="preencoded.png">    </p:cNvPr>
          <p:cNvPicPr>
            <a:picLocks noChangeAspect="1"/>
          </p:cNvPicPr>
          <p:nvPr/>
        </p:nvPicPr>
        <p:blipFill>
          <a:blip r:embed="rId1"/>
          <a:stretch>
            <a:fillRect/>
          </a:stretch>
        </p:blipFill>
        <p:spPr>
          <a:xfrm>
            <a:off x="6890187" y="2683947"/>
            <a:ext cx="228234" cy="228234"/>
          </a:xfrm>
          <a:prstGeom prst="rect">
            <a:avLst/>
          </a:prstGeom>
        </p:spPr>
      </p:pic>
      <p:sp>
        <p:nvSpPr>
          <p:cNvPr id="24" name="Text 21"/>
          <p:cNvSpPr/>
          <p:nvPr/>
        </p:nvSpPr>
        <p:spPr>
          <a:xfrm>
            <a:off x="7406640" y="2514600"/>
            <a:ext cx="3913632" cy="1097280"/>
          </a:xfrm>
          <a:prstGeom prst="rect">
            <a:avLst/>
          </a:prstGeom>
          <a:noFill/>
          <a:ln/>
        </p:spPr>
        <p:txBody>
          <a:bodyPr wrap="square" lIns="0" tIns="0" rIns="0" bIns="0" rtlCol="0" anchor="t"/>
          <a:lstStyle/>
          <a:p>
            <a:pPr indent="0" marL="0">
              <a:lnSpc>
                <a:spcPct val="108000"/>
              </a:lnSpc>
              <a:buNone/>
            </a:pPr>
            <a:r>
              <a:rPr lang="en-US" sz="1250" b="1" dirty="0">
                <a:solidFill>
                  <a:srgbClr val="1E2761"/>
                </a:solidFill>
                <a:latin typeface="Calibri" pitchFamily="34" charset="0"/>
                <a:ea typeface="Calibri" pitchFamily="34" charset="-122"/>
                <a:cs typeface="Calibri" pitchFamily="34" charset="-120"/>
              </a:rPr>
              <a:t>Kiểm tra ngược bằng hình</a:t>
            </a:r>
            <a:endParaRPr lang="en-US" sz="1250" dirty="0"/>
          </a:p>
          <a:p>
            <a:pPr indent="0" marL="0">
              <a:lnSpc>
                <a:spcPct val="108000"/>
              </a:lnSpc>
              <a:buNone/>
            </a:pPr>
            <a:r>
              <a:rPr lang="en-US" sz="1250" dirty="0">
                <a:solidFill>
                  <a:srgbClr val="22263B"/>
                </a:solidFill>
                <a:latin typeface="Calibri" pitchFamily="34" charset="0"/>
                <a:ea typeface="Calibri" pitchFamily="34" charset="-122"/>
                <a:cs typeface="Calibri" pitchFamily="34" charset="-120"/>
              </a:rPr>
              <a:t>AI vẽ lại những gì nó hiểu (Mermaid / drawio), đặt cạnh bản gốc. So bằng mắt — lệch là thấy ngay.</a:t>
            </a:r>
            <a:endParaRPr lang="en-US" sz="1250" dirty="0"/>
          </a:p>
        </p:txBody>
      </p:sp>
      <p:sp>
        <p:nvSpPr>
          <p:cNvPr id="25" name="Shape 22"/>
          <p:cNvSpPr/>
          <p:nvPr/>
        </p:nvSpPr>
        <p:spPr>
          <a:xfrm>
            <a:off x="6766560" y="3794760"/>
            <a:ext cx="475488" cy="475488"/>
          </a:xfrm>
          <a:prstGeom prst="ellipse">
            <a:avLst/>
          </a:prstGeom>
          <a:solidFill>
            <a:srgbClr val="CADCFC"/>
          </a:solidFill>
          <a:ln/>
        </p:spPr>
      </p:sp>
      <p:pic>
        <p:nvPicPr>
          <p:cNvPr id="26" name="Image 1" descr="preencoded.png">    </p:cNvPr>
          <p:cNvPicPr>
            <a:picLocks noChangeAspect="1"/>
          </p:cNvPicPr>
          <p:nvPr/>
        </p:nvPicPr>
        <p:blipFill>
          <a:blip r:embed="rId2"/>
          <a:stretch>
            <a:fillRect/>
          </a:stretch>
        </p:blipFill>
        <p:spPr>
          <a:xfrm>
            <a:off x="6890187" y="3918387"/>
            <a:ext cx="228234" cy="228234"/>
          </a:xfrm>
          <a:prstGeom prst="rect">
            <a:avLst/>
          </a:prstGeom>
        </p:spPr>
      </p:pic>
      <p:sp>
        <p:nvSpPr>
          <p:cNvPr id="27" name="Text 23"/>
          <p:cNvSpPr/>
          <p:nvPr/>
        </p:nvSpPr>
        <p:spPr>
          <a:xfrm>
            <a:off x="7406640" y="3749040"/>
            <a:ext cx="3913632" cy="1188720"/>
          </a:xfrm>
          <a:prstGeom prst="rect">
            <a:avLst/>
          </a:prstGeom>
          <a:noFill/>
          <a:ln/>
        </p:spPr>
        <p:txBody>
          <a:bodyPr wrap="square" lIns="0" tIns="0" rIns="0" bIns="0" rtlCol="0" anchor="t"/>
          <a:lstStyle/>
          <a:p>
            <a:pPr indent="0" marL="0">
              <a:lnSpc>
                <a:spcPct val="108000"/>
              </a:lnSpc>
              <a:buNone/>
            </a:pPr>
            <a:r>
              <a:rPr lang="en-US" sz="1250" b="1" dirty="0">
                <a:solidFill>
                  <a:srgbClr val="1E2761"/>
                </a:solidFill>
                <a:latin typeface="Calibri" pitchFamily="34" charset="0"/>
                <a:ea typeface="Calibri" pitchFamily="34" charset="-122"/>
                <a:cs typeface="Calibri" pitchFamily="34" charset="-120"/>
              </a:rPr>
              <a:t>Danh sách chỗ mờ</a:t>
            </a:r>
            <a:endParaRPr lang="en-US" sz="1250" dirty="0"/>
          </a:p>
          <a:p>
            <a:pPr indent="0" marL="0">
              <a:lnSpc>
                <a:spcPct val="108000"/>
              </a:lnSpc>
              <a:buNone/>
            </a:pPr>
            <a:r>
              <a:rPr lang="en-US" sz="1250" dirty="0">
                <a:solidFill>
                  <a:srgbClr val="22263B"/>
                </a:solidFill>
                <a:latin typeface="Calibri" pitchFamily="34" charset="0"/>
                <a:ea typeface="Calibri" pitchFamily="34" charset="-122"/>
                <a:cs typeface="Calibri" pitchFamily="34" charset="-120"/>
              </a:rPr>
              <a:t>AI phải khai báo điểm không chắc / mơ hồ / đã suy diễn — thay vì lẳng lặng điền vào chỗ trống. Ngắn, và là thứ SE đọc kỹ nhất.</a:t>
            </a:r>
            <a:endParaRPr lang="en-US" sz="1250" dirty="0"/>
          </a:p>
        </p:txBody>
      </p:sp>
      <p:sp>
        <p:nvSpPr>
          <p:cNvPr id="28" name="Shape 24"/>
          <p:cNvSpPr/>
          <p:nvPr/>
        </p:nvSpPr>
        <p:spPr>
          <a:xfrm>
            <a:off x="6446520" y="5303520"/>
            <a:ext cx="5193792" cy="914400"/>
          </a:xfrm>
          <a:prstGeom prst="roundRect">
            <a:avLst>
              <a:gd name="adj" fmla="val 9000"/>
            </a:avLst>
          </a:prstGeom>
          <a:solidFill>
            <a:srgbClr val="EEF3FB"/>
          </a:solidFill>
          <a:ln/>
          <a:effectLst>
            <a:outerShdw sx="100000" sy="100000" kx="0" ky="0" algn="bl" rotWithShape="0" blurRad="88900" dist="25400" dir="5400000">
              <a:srgbClr val="1E2761">
                <a:alpha val="22000"/>
              </a:srgbClr>
            </a:outerShdw>
          </a:effectLst>
        </p:spPr>
      </p:sp>
      <p:sp>
        <p:nvSpPr>
          <p:cNvPr id="29" name="Shape 25"/>
          <p:cNvSpPr/>
          <p:nvPr/>
        </p:nvSpPr>
        <p:spPr>
          <a:xfrm>
            <a:off x="6766560" y="5477256"/>
            <a:ext cx="475488" cy="475488"/>
          </a:xfrm>
          <a:prstGeom prst="ellipse">
            <a:avLst/>
          </a:prstGeom>
          <a:solidFill>
            <a:srgbClr val="CADCFC"/>
          </a:solidFill>
          <a:ln/>
        </p:spPr>
      </p:sp>
      <p:pic>
        <p:nvPicPr>
          <p:cNvPr id="30" name="Image 2" descr="preencoded.png">    </p:cNvPr>
          <p:cNvPicPr>
            <a:picLocks noChangeAspect="1"/>
          </p:cNvPicPr>
          <p:nvPr/>
        </p:nvPicPr>
        <p:blipFill>
          <a:blip r:embed="rId3"/>
          <a:stretch>
            <a:fillRect/>
          </a:stretch>
        </p:blipFill>
        <p:spPr>
          <a:xfrm>
            <a:off x="6890187" y="5600883"/>
            <a:ext cx="228234" cy="228234"/>
          </a:xfrm>
          <a:prstGeom prst="rect">
            <a:avLst/>
          </a:prstGeom>
        </p:spPr>
      </p:pic>
      <p:sp>
        <p:nvSpPr>
          <p:cNvPr id="31" name="Text 26"/>
          <p:cNvSpPr/>
          <p:nvPr/>
        </p:nvSpPr>
        <p:spPr>
          <a:xfrm>
            <a:off x="7406640" y="5413248"/>
            <a:ext cx="3913632" cy="731520"/>
          </a:xfrm>
          <a:prstGeom prst="rect">
            <a:avLst/>
          </a:prstGeom>
          <a:noFill/>
          <a:ln/>
        </p:spPr>
        <p:txBody>
          <a:bodyPr wrap="square" lIns="0" tIns="0" rIns="0" bIns="0" rtlCol="0" anchor="ctr"/>
          <a:lstStyle/>
          <a:p>
            <a:pPr indent="0" marL="0">
              <a:lnSpc>
                <a:spcPct val="105000"/>
              </a:lnSpc>
              <a:buNone/>
            </a:pPr>
            <a:r>
              <a:rPr lang="en-US" sz="1200" dirty="0">
                <a:solidFill>
                  <a:srgbClr val="22263B"/>
                </a:solidFill>
                <a:latin typeface="Calibri" pitchFamily="34" charset="0"/>
                <a:ea typeface="Calibri" pitchFamily="34" charset="-122"/>
                <a:cs typeface="Calibri" pitchFamily="34" charset="-120"/>
              </a:rPr>
              <a:t>Chỉ dùng AI tool được công ty phê duyệt. Dự án có NDA đặc thù → SE xác nhận trước khi áp dụng.</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10972800" cy="292608"/>
          </a:xfrm>
          <a:prstGeom prst="rect">
            <a:avLst/>
          </a:prstGeom>
          <a:noFill/>
          <a:ln/>
        </p:spPr>
        <p:txBody>
          <a:bodyPr wrap="square" lIns="0" tIns="0" rIns="0" bIns="0" rtlCol="0" anchor="ctr"/>
          <a:lstStyle/>
          <a:p>
            <a:pPr indent="0" marL="0">
              <a:buNone/>
            </a:pPr>
            <a:r>
              <a:rPr lang="en-US" sz="1200" b="1" spc="300" kern="0" dirty="0">
                <a:solidFill>
                  <a:srgbClr val="02C39A"/>
                </a:solidFill>
                <a:latin typeface="Calibri" pitchFamily="34" charset="0"/>
                <a:ea typeface="Calibri" pitchFamily="34" charset="-122"/>
                <a:cs typeface="Calibri" pitchFamily="34" charset="-120"/>
              </a:rPr>
              <a:t>VẬN HÀNH</a:t>
            </a:r>
            <a:endParaRPr lang="en-US" sz="1200" dirty="0"/>
          </a:p>
        </p:txBody>
      </p:sp>
      <p:sp>
        <p:nvSpPr>
          <p:cNvPr id="3" name="Text 1"/>
          <p:cNvSpPr/>
          <p:nvPr/>
        </p:nvSpPr>
        <p:spPr>
          <a:xfrm>
            <a:off x="548640" y="621792"/>
            <a:ext cx="11064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Trạng thái tài liệu — cái gì đã chốt, với ai?</a:t>
            </a:r>
            <a:endParaRPr lang="en-US" sz="3000" dirty="0"/>
          </a:p>
        </p:txBody>
      </p:sp>
      <p:sp>
        <p:nvSpPr>
          <p:cNvPr id="4" name="Shape 2"/>
          <p:cNvSpPr/>
          <p:nvPr/>
        </p:nvSpPr>
        <p:spPr>
          <a:xfrm>
            <a:off x="548640" y="1600200"/>
            <a:ext cx="11091672" cy="566928"/>
          </a:xfrm>
          <a:prstGeom prst="roundRect">
            <a:avLst>
              <a:gd name="adj" fmla="val 9677"/>
            </a:avLst>
          </a:prstGeom>
          <a:solidFill>
            <a:srgbClr val="F1F3F8"/>
          </a:solidFill>
          <a:ln w="12700">
            <a:solidFill>
              <a:srgbClr val="CADCFC"/>
            </a:solidFill>
            <a:prstDash val="solid"/>
          </a:ln>
        </p:spPr>
      </p:sp>
      <p:sp>
        <p:nvSpPr>
          <p:cNvPr id="5" name="Text 3"/>
          <p:cNvSpPr/>
          <p:nvPr/>
        </p:nvSpPr>
        <p:spPr>
          <a:xfrm>
            <a:off x="868680" y="1600200"/>
            <a:ext cx="10607040" cy="566928"/>
          </a:xfrm>
          <a:prstGeom prst="rect">
            <a:avLst/>
          </a:prstGeom>
          <a:noFill/>
          <a:ln/>
        </p:spPr>
        <p:txBody>
          <a:bodyPr wrap="square" lIns="0" tIns="0" rIns="0" bIns="0" rtlCol="0" anchor="ctr"/>
          <a:lstStyle/>
          <a:p>
            <a:pPr indent="0" marL="0">
              <a:buNone/>
            </a:pPr>
            <a:r>
              <a:rPr lang="en-US" sz="1400" dirty="0">
                <a:solidFill>
                  <a:srgbClr val="1E2761"/>
                </a:solidFill>
                <a:latin typeface="Courier New" pitchFamily="34" charset="0"/>
                <a:ea typeface="Courier New" pitchFamily="34" charset="-122"/>
                <a:cs typeface="Courier New" pitchFamily="34" charset="-120"/>
              </a:rPr>
              <a:t>&gt; Status: draft | agreed-internal | agreed-customer (YYYY-MM-DD)</a:t>
            </a:r>
            <a:endParaRPr lang="en-US" sz="1400" dirty="0"/>
          </a:p>
        </p:txBody>
      </p:sp>
      <p:sp>
        <p:nvSpPr>
          <p:cNvPr id="6" name="Text 4"/>
          <p:cNvSpPr/>
          <p:nvPr/>
        </p:nvSpPr>
        <p:spPr>
          <a:xfrm>
            <a:off x="566928" y="2212848"/>
            <a:ext cx="7315200" cy="320040"/>
          </a:xfrm>
          <a:prstGeom prst="rect">
            <a:avLst/>
          </a:prstGeom>
          <a:noFill/>
          <a:ln/>
        </p:spPr>
        <p:txBody>
          <a:bodyPr wrap="square" lIns="0" tIns="0" rIns="0" bIns="0" rtlCol="0" anchor="ctr"/>
          <a:lstStyle/>
          <a:p>
            <a:pPr indent="0" marL="0">
              <a:buNone/>
            </a:pPr>
            <a:r>
              <a:rPr lang="en-US" sz="1200" i="1" dirty="0">
                <a:solidFill>
                  <a:srgbClr val="5A6178"/>
                </a:solidFill>
                <a:latin typeface="Calibri" pitchFamily="34" charset="0"/>
                <a:ea typeface="Calibri" pitchFamily="34" charset="-122"/>
                <a:cs typeface="Calibri" pitchFamily="34" charset="-120"/>
              </a:rPr>
              <a:t>— một dòng ở đầu mỗi file spec</a:t>
            </a:r>
            <a:endParaRPr lang="en-US" sz="1200" dirty="0"/>
          </a:p>
        </p:txBody>
      </p:sp>
      <p:sp>
        <p:nvSpPr>
          <p:cNvPr id="7" name="Shape 5"/>
          <p:cNvSpPr/>
          <p:nvPr/>
        </p:nvSpPr>
        <p:spPr>
          <a:xfrm>
            <a:off x="548640" y="2743200"/>
            <a:ext cx="3383280" cy="2377440"/>
          </a:xfrm>
          <a:prstGeom prst="roundRect">
            <a:avLst>
              <a:gd name="adj" fmla="val 3462"/>
            </a:avLst>
          </a:prstGeom>
          <a:solidFill>
            <a:srgbClr val="F1F3F8"/>
          </a:solidFill>
          <a:ln/>
          <a:effectLst>
            <a:outerShdw sx="100000" sy="100000" kx="0" ky="0" algn="bl" rotWithShape="0" blurRad="88900" dist="25400" dir="5400000">
              <a:srgbClr val="1E2761">
                <a:alpha val="22000"/>
              </a:srgbClr>
            </a:outerShdw>
          </a:effectLst>
        </p:spPr>
      </p:sp>
      <p:sp>
        <p:nvSpPr>
          <p:cNvPr id="8" name="Text 6"/>
          <p:cNvSpPr/>
          <p:nvPr/>
        </p:nvSpPr>
        <p:spPr>
          <a:xfrm>
            <a:off x="822960" y="2999232"/>
            <a:ext cx="2834640" cy="365760"/>
          </a:xfrm>
          <a:prstGeom prst="rect">
            <a:avLst/>
          </a:prstGeom>
          <a:noFill/>
          <a:ln/>
        </p:spPr>
        <p:txBody>
          <a:bodyPr wrap="square" lIns="0" tIns="0" rIns="0" bIns="0" rtlCol="0" anchor="ctr"/>
          <a:lstStyle/>
          <a:p>
            <a:pPr indent="0" marL="0">
              <a:buNone/>
            </a:pPr>
            <a:r>
              <a:rPr lang="en-US" sz="1400" b="1" dirty="0">
                <a:solidFill>
                  <a:srgbClr val="1E2761"/>
                </a:solidFill>
                <a:latin typeface="Courier New" pitchFamily="34" charset="0"/>
                <a:ea typeface="Courier New" pitchFamily="34" charset="-122"/>
                <a:cs typeface="Courier New" pitchFamily="34" charset="-120"/>
              </a:rPr>
              <a:t>draft</a:t>
            </a:r>
            <a:endParaRPr lang="en-US" sz="1400" dirty="0"/>
          </a:p>
        </p:txBody>
      </p:sp>
      <p:sp>
        <p:nvSpPr>
          <p:cNvPr id="9" name="Text 7"/>
          <p:cNvSpPr/>
          <p:nvPr/>
        </p:nvSpPr>
        <p:spPr>
          <a:xfrm>
            <a:off x="822960" y="3456432"/>
            <a:ext cx="2834640" cy="45720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Nháp</a:t>
            </a:r>
            <a:endParaRPr lang="en-US" sz="1600" dirty="0"/>
          </a:p>
        </p:txBody>
      </p:sp>
      <p:sp>
        <p:nvSpPr>
          <p:cNvPr id="10" name="Text 8"/>
          <p:cNvSpPr/>
          <p:nvPr/>
        </p:nvSpPr>
        <p:spPr>
          <a:xfrm>
            <a:off x="822960" y="3950208"/>
            <a:ext cx="2834640" cy="1005840"/>
          </a:xfrm>
          <a:prstGeom prst="rect">
            <a:avLst/>
          </a:prstGeom>
          <a:noFill/>
          <a:ln/>
        </p:spPr>
        <p:txBody>
          <a:bodyPr wrap="square" lIns="0" tIns="0" rIns="0" bIns="0" rtlCol="0" anchor="t"/>
          <a:lstStyle/>
          <a:p>
            <a:pPr indent="0" marL="0">
              <a:lnSpc>
                <a:spcPct val="112000"/>
              </a:lnSpc>
              <a:buNone/>
            </a:pPr>
            <a:r>
              <a:rPr lang="en-US" sz="1250" dirty="0">
                <a:solidFill>
                  <a:srgbClr val="22263B"/>
                </a:solidFill>
                <a:latin typeface="Calibri" pitchFamily="34" charset="0"/>
                <a:ea typeface="Calibri" pitchFamily="34" charset="-122"/>
                <a:cs typeface="Calibri" pitchFamily="34" charset="-120"/>
              </a:rPr>
              <a:t>AI soạn hoặc đang bàn.</a:t>
            </a:r>
            <a:endParaRPr lang="en-US" sz="1250" dirty="0"/>
          </a:p>
          <a:p>
            <a:pPr indent="0" marL="0">
              <a:lnSpc>
                <a:spcPct val="112000"/>
              </a:lnSpc>
              <a:buNone/>
            </a:pPr>
            <a:r>
              <a:rPr lang="en-US" sz="1250" dirty="0">
                <a:solidFill>
                  <a:srgbClr val="22263B"/>
                </a:solidFill>
                <a:latin typeface="Calibri" pitchFamily="34" charset="0"/>
                <a:ea typeface="Calibri" pitchFamily="34" charset="-122"/>
                <a:cs typeface="Calibri" pitchFamily="34" charset="-120"/>
              </a:rPr>
              <a:t>Chưa ràng buộc — review nhẹ.</a:t>
            </a:r>
            <a:endParaRPr lang="en-US" sz="1250" dirty="0"/>
          </a:p>
        </p:txBody>
      </p:sp>
      <p:sp>
        <p:nvSpPr>
          <p:cNvPr id="11" name="Shape 9"/>
          <p:cNvSpPr/>
          <p:nvPr/>
        </p:nvSpPr>
        <p:spPr>
          <a:xfrm>
            <a:off x="4005072" y="3767328"/>
            <a:ext cx="329184" cy="329184"/>
          </a:xfrm>
          <a:prstGeom prst="chevron">
            <a:avLst/>
          </a:prstGeom>
          <a:solidFill>
            <a:srgbClr val="02C39A"/>
          </a:solidFill>
          <a:ln/>
        </p:spPr>
      </p:sp>
      <p:sp>
        <p:nvSpPr>
          <p:cNvPr id="12" name="Shape 10"/>
          <p:cNvSpPr/>
          <p:nvPr/>
        </p:nvSpPr>
        <p:spPr>
          <a:xfrm>
            <a:off x="4398264" y="2743200"/>
            <a:ext cx="3383280" cy="2377440"/>
          </a:xfrm>
          <a:prstGeom prst="roundRect">
            <a:avLst>
              <a:gd name="adj" fmla="val 3462"/>
            </a:avLst>
          </a:prstGeom>
          <a:solidFill>
            <a:srgbClr val="CADCFC"/>
          </a:solidFill>
          <a:ln/>
          <a:effectLst>
            <a:outerShdw sx="100000" sy="100000" kx="0" ky="0" algn="bl" rotWithShape="0" blurRad="88900" dist="25400" dir="5400000">
              <a:srgbClr val="1E2761">
                <a:alpha val="22000"/>
              </a:srgbClr>
            </a:outerShdw>
          </a:effectLst>
        </p:spPr>
      </p:sp>
      <p:sp>
        <p:nvSpPr>
          <p:cNvPr id="13" name="Text 11"/>
          <p:cNvSpPr/>
          <p:nvPr/>
        </p:nvSpPr>
        <p:spPr>
          <a:xfrm>
            <a:off x="4672584" y="2999232"/>
            <a:ext cx="2834640" cy="365760"/>
          </a:xfrm>
          <a:prstGeom prst="rect">
            <a:avLst/>
          </a:prstGeom>
          <a:noFill/>
          <a:ln/>
        </p:spPr>
        <p:txBody>
          <a:bodyPr wrap="square" lIns="0" tIns="0" rIns="0" bIns="0" rtlCol="0" anchor="ctr"/>
          <a:lstStyle/>
          <a:p>
            <a:pPr indent="0" marL="0">
              <a:buNone/>
            </a:pPr>
            <a:r>
              <a:rPr lang="en-US" sz="1400" b="1" dirty="0">
                <a:solidFill>
                  <a:srgbClr val="1E2761"/>
                </a:solidFill>
                <a:latin typeface="Courier New" pitchFamily="34" charset="0"/>
                <a:ea typeface="Courier New" pitchFamily="34" charset="-122"/>
                <a:cs typeface="Courier New" pitchFamily="34" charset="-120"/>
              </a:rPr>
              <a:t>agreed-internal</a:t>
            </a:r>
            <a:endParaRPr lang="en-US" sz="1400" dirty="0"/>
          </a:p>
        </p:txBody>
      </p:sp>
      <p:sp>
        <p:nvSpPr>
          <p:cNvPr id="14" name="Text 12"/>
          <p:cNvSpPr/>
          <p:nvPr/>
        </p:nvSpPr>
        <p:spPr>
          <a:xfrm>
            <a:off x="4672584" y="3456432"/>
            <a:ext cx="2834640" cy="45720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Team đã thống nhất</a:t>
            </a:r>
            <a:endParaRPr lang="en-US" sz="1600" dirty="0"/>
          </a:p>
        </p:txBody>
      </p:sp>
      <p:sp>
        <p:nvSpPr>
          <p:cNvPr id="15" name="Text 13"/>
          <p:cNvSpPr/>
          <p:nvPr/>
        </p:nvSpPr>
        <p:spPr>
          <a:xfrm>
            <a:off x="4672584" y="3950208"/>
            <a:ext cx="2834640" cy="1005840"/>
          </a:xfrm>
          <a:prstGeom prst="rect">
            <a:avLst/>
          </a:prstGeom>
          <a:noFill/>
          <a:ln/>
        </p:spPr>
        <p:txBody>
          <a:bodyPr wrap="square" lIns="0" tIns="0" rIns="0" bIns="0" rtlCol="0" anchor="t"/>
          <a:lstStyle/>
          <a:p>
            <a:pPr indent="0" marL="0">
              <a:lnSpc>
                <a:spcPct val="112000"/>
              </a:lnSpc>
              <a:buNone/>
            </a:pPr>
            <a:r>
              <a:rPr lang="en-US" sz="1250" dirty="0">
                <a:solidFill>
                  <a:srgbClr val="22263B"/>
                </a:solidFill>
                <a:latin typeface="Calibri" pitchFamily="34" charset="0"/>
                <a:ea typeface="Calibri" pitchFamily="34" charset="-122"/>
                <a:cs typeface="Calibri" pitchFamily="34" charset="-120"/>
              </a:rPr>
              <a:t>Cơ sở để dev triển khai;</a:t>
            </a:r>
            <a:endParaRPr lang="en-US" sz="1250" dirty="0"/>
          </a:p>
          <a:p>
            <a:pPr indent="0" marL="0">
              <a:lnSpc>
                <a:spcPct val="112000"/>
              </a:lnSpc>
              <a:buNone/>
            </a:pPr>
            <a:r>
              <a:rPr lang="en-US" sz="1250" dirty="0">
                <a:solidFill>
                  <a:srgbClr val="22263B"/>
                </a:solidFill>
                <a:latin typeface="Calibri" pitchFamily="34" charset="0"/>
                <a:ea typeface="Calibri" pitchFamily="34" charset="-122"/>
                <a:cs typeface="Calibri" pitchFamily="34" charset="-120"/>
              </a:rPr>
              <a:t>vẫn có thể tinh chỉnh nội bộ.</a:t>
            </a:r>
            <a:endParaRPr lang="en-US" sz="1250" dirty="0"/>
          </a:p>
        </p:txBody>
      </p:sp>
      <p:sp>
        <p:nvSpPr>
          <p:cNvPr id="16" name="Shape 14"/>
          <p:cNvSpPr/>
          <p:nvPr/>
        </p:nvSpPr>
        <p:spPr>
          <a:xfrm>
            <a:off x="7854696" y="3767328"/>
            <a:ext cx="329184" cy="329184"/>
          </a:xfrm>
          <a:prstGeom prst="chevron">
            <a:avLst/>
          </a:prstGeom>
          <a:solidFill>
            <a:srgbClr val="02C39A"/>
          </a:solidFill>
          <a:ln/>
        </p:spPr>
      </p:sp>
      <p:sp>
        <p:nvSpPr>
          <p:cNvPr id="17" name="Shape 15"/>
          <p:cNvSpPr/>
          <p:nvPr/>
        </p:nvSpPr>
        <p:spPr>
          <a:xfrm>
            <a:off x="8247888" y="2743200"/>
            <a:ext cx="3383280" cy="2377440"/>
          </a:xfrm>
          <a:prstGeom prst="roundRect">
            <a:avLst>
              <a:gd name="adj" fmla="val 3462"/>
            </a:avLst>
          </a:prstGeom>
          <a:solidFill>
            <a:srgbClr val="1E2761"/>
          </a:solidFill>
          <a:ln/>
          <a:effectLst>
            <a:outerShdw sx="100000" sy="100000" kx="0" ky="0" algn="bl" rotWithShape="0" blurRad="88900" dist="25400" dir="5400000">
              <a:srgbClr val="1E2761">
                <a:alpha val="22000"/>
              </a:srgbClr>
            </a:outerShdw>
          </a:effectLst>
        </p:spPr>
      </p:sp>
      <p:sp>
        <p:nvSpPr>
          <p:cNvPr id="18" name="Text 16"/>
          <p:cNvSpPr/>
          <p:nvPr/>
        </p:nvSpPr>
        <p:spPr>
          <a:xfrm>
            <a:off x="8522208" y="2999232"/>
            <a:ext cx="2834640" cy="365760"/>
          </a:xfrm>
          <a:prstGeom prst="rect">
            <a:avLst/>
          </a:prstGeom>
          <a:noFill/>
          <a:ln/>
        </p:spPr>
        <p:txBody>
          <a:bodyPr wrap="square" lIns="0" tIns="0" rIns="0" bIns="0" rtlCol="0" anchor="ctr"/>
          <a:lstStyle/>
          <a:p>
            <a:pPr indent="0" marL="0">
              <a:buNone/>
            </a:pPr>
            <a:r>
              <a:rPr lang="en-US" sz="1400" b="1" dirty="0">
                <a:solidFill>
                  <a:srgbClr val="FFFFFF"/>
                </a:solidFill>
                <a:latin typeface="Courier New" pitchFamily="34" charset="0"/>
                <a:ea typeface="Courier New" pitchFamily="34" charset="-122"/>
                <a:cs typeface="Courier New" pitchFamily="34" charset="-120"/>
              </a:rPr>
              <a:t>agreed-customer</a:t>
            </a:r>
            <a:endParaRPr lang="en-US" sz="1400" dirty="0"/>
          </a:p>
        </p:txBody>
      </p:sp>
      <p:sp>
        <p:nvSpPr>
          <p:cNvPr id="19" name="Text 17"/>
          <p:cNvSpPr/>
          <p:nvPr/>
        </p:nvSpPr>
        <p:spPr>
          <a:xfrm>
            <a:off x="8522208" y="3456432"/>
            <a:ext cx="2834640"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Đã chốt với khách hàng</a:t>
            </a:r>
            <a:endParaRPr lang="en-US" sz="1600" dirty="0"/>
          </a:p>
        </p:txBody>
      </p:sp>
      <p:sp>
        <p:nvSpPr>
          <p:cNvPr id="20" name="Text 18"/>
          <p:cNvSpPr/>
          <p:nvPr/>
        </p:nvSpPr>
        <p:spPr>
          <a:xfrm>
            <a:off x="8522208" y="3950208"/>
            <a:ext cx="2834640" cy="1005840"/>
          </a:xfrm>
          <a:prstGeom prst="rect">
            <a:avLst/>
          </a:prstGeom>
          <a:noFill/>
          <a:ln/>
        </p:spPr>
        <p:txBody>
          <a:bodyPr wrap="square" lIns="0" tIns="0" rIns="0" bIns="0" rtlCol="0" anchor="t"/>
          <a:lstStyle/>
          <a:p>
            <a:pPr indent="0" marL="0">
              <a:lnSpc>
                <a:spcPct val="112000"/>
              </a:lnSpc>
              <a:buNone/>
            </a:pPr>
            <a:r>
              <a:rPr lang="en-US" sz="1250" dirty="0">
                <a:solidFill>
                  <a:srgbClr val="CADCFC"/>
                </a:solidFill>
                <a:latin typeface="Calibri" pitchFamily="34" charset="0"/>
                <a:ea typeface="Calibri" pitchFamily="34" charset="-122"/>
                <a:cs typeface="Calibri" pitchFamily="34" charset="-120"/>
              </a:rPr>
              <a:t>Ràng buộc gần như hợp đồng.</a:t>
            </a:r>
            <a:endParaRPr lang="en-US" sz="1250" dirty="0"/>
          </a:p>
          <a:p>
            <a:pPr indent="0" marL="0">
              <a:lnSpc>
                <a:spcPct val="112000"/>
              </a:lnSpc>
              <a:buNone/>
            </a:pPr>
            <a:r>
              <a:rPr lang="en-US" sz="1250" dirty="0">
                <a:solidFill>
                  <a:srgbClr val="CADCFC"/>
                </a:solidFill>
                <a:latin typeface="Calibri" pitchFamily="34" charset="0"/>
                <a:ea typeface="Calibri" pitchFamily="34" charset="-122"/>
                <a:cs typeface="Calibri" pitchFamily="34" charset="-120"/>
              </a:rPr>
              <a:t>Sửa = thương lượng lại → review từng chữ.</a:t>
            </a:r>
            <a:endParaRPr lang="en-US" sz="1250" dirty="0"/>
          </a:p>
        </p:txBody>
      </p:sp>
      <p:sp>
        <p:nvSpPr>
          <p:cNvPr id="21" name="Text 19"/>
          <p:cNvSpPr/>
          <p:nvPr/>
        </p:nvSpPr>
        <p:spPr>
          <a:xfrm>
            <a:off x="566928" y="5486400"/>
            <a:ext cx="11064240" cy="5486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Chỉ SE nắm dự án </a:t>
            </a:r>
            <a:pPr indent="0" marL="0">
              <a:buNone/>
            </a:pPr>
            <a:r>
              <a:rPr lang="en-US" sz="1300" dirty="0">
                <a:solidFill>
                  <a:srgbClr val="5A6178"/>
                </a:solidFill>
                <a:latin typeface="Calibri" pitchFamily="34" charset="0"/>
                <a:ea typeface="Calibri" pitchFamily="34" charset="-122"/>
                <a:cs typeface="Calibri" pitchFamily="34" charset="-120"/>
              </a:rPr>
              <a:t>được chuyển status sang agreed-customer.   ·   Team dev nhìn status để phân biệt spec ràng buộc với brainstorm.</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10972800" cy="292608"/>
          </a:xfrm>
          <a:prstGeom prst="rect">
            <a:avLst/>
          </a:prstGeom>
          <a:noFill/>
          <a:ln/>
        </p:spPr>
        <p:txBody>
          <a:bodyPr wrap="square" lIns="0" tIns="0" rIns="0" bIns="0" rtlCol="0" anchor="ctr"/>
          <a:lstStyle/>
          <a:p>
            <a:pPr indent="0" marL="0">
              <a:buNone/>
            </a:pPr>
            <a:r>
              <a:rPr lang="en-US" sz="1200" b="1" spc="300" kern="0" dirty="0">
                <a:solidFill>
                  <a:srgbClr val="02C39A"/>
                </a:solidFill>
                <a:latin typeface="Calibri" pitchFamily="34" charset="0"/>
                <a:ea typeface="Calibri" pitchFamily="34" charset="-122"/>
                <a:cs typeface="Calibri" pitchFamily="34" charset="-120"/>
              </a:rPr>
              <a:t>VẬN HÀNH</a:t>
            </a:r>
            <a:endParaRPr lang="en-US" sz="1200" dirty="0"/>
          </a:p>
        </p:txBody>
      </p:sp>
      <p:sp>
        <p:nvSpPr>
          <p:cNvPr id="3" name="Text 1"/>
          <p:cNvSpPr/>
          <p:nvPr/>
        </p:nvSpPr>
        <p:spPr>
          <a:xfrm>
            <a:off x="548640" y="621792"/>
            <a:ext cx="11064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Ghi gì vào docs? — Quyết định, không phải văn xuôi</a:t>
            </a:r>
            <a:endParaRPr lang="en-US" sz="3000" dirty="0"/>
          </a:p>
        </p:txBody>
      </p:sp>
      <p:sp>
        <p:nvSpPr>
          <p:cNvPr id="4" name="Shape 2"/>
          <p:cNvSpPr/>
          <p:nvPr/>
        </p:nvSpPr>
        <p:spPr>
          <a:xfrm>
            <a:off x="548640" y="1645920"/>
            <a:ext cx="5440680" cy="3566160"/>
          </a:xfrm>
          <a:prstGeom prst="roundRect">
            <a:avLst>
              <a:gd name="adj" fmla="val 2308"/>
            </a:avLst>
          </a:prstGeom>
          <a:solidFill>
            <a:srgbClr val="EEF3FB"/>
          </a:solidFill>
          <a:ln/>
          <a:effectLst>
            <a:outerShdw sx="100000" sy="100000" kx="0" ky="0" algn="bl" rotWithShape="0" blurRad="88900" dist="25400" dir="5400000">
              <a:srgbClr val="1E2761">
                <a:alpha val="22000"/>
              </a:srgbClr>
            </a:outerShdw>
          </a:effectLst>
        </p:spPr>
      </p:sp>
      <p:sp>
        <p:nvSpPr>
          <p:cNvPr id="5" name="Shape 3"/>
          <p:cNvSpPr/>
          <p:nvPr/>
        </p:nvSpPr>
        <p:spPr>
          <a:xfrm>
            <a:off x="868680" y="1920240"/>
            <a:ext cx="548640" cy="548640"/>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1011326" y="2062886"/>
            <a:ext cx="263347" cy="263347"/>
          </a:xfrm>
          <a:prstGeom prst="rect">
            <a:avLst/>
          </a:prstGeom>
        </p:spPr>
      </p:pic>
      <p:sp>
        <p:nvSpPr>
          <p:cNvPr id="7" name="Text 4"/>
          <p:cNvSpPr/>
          <p:nvPr/>
        </p:nvSpPr>
        <p:spPr>
          <a:xfrm>
            <a:off x="1572768" y="1984248"/>
            <a:ext cx="3657600" cy="45720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Ưu tiên ghi</a:t>
            </a:r>
            <a:endParaRPr lang="en-US" sz="1800" dirty="0"/>
          </a:p>
        </p:txBody>
      </p:sp>
      <p:sp>
        <p:nvSpPr>
          <p:cNvPr id="8" name="Text 5"/>
          <p:cNvSpPr/>
          <p:nvPr/>
        </p:nvSpPr>
        <p:spPr>
          <a:xfrm>
            <a:off x="868680" y="2651760"/>
            <a:ext cx="4818888" cy="2377440"/>
          </a:xfrm>
          <a:prstGeom prst="rect">
            <a:avLst/>
          </a:prstGeom>
          <a:noFill/>
          <a:ln/>
        </p:spPr>
        <p:txBody>
          <a:bodyPr wrap="square" lIns="0" tIns="0" rIns="0" bIns="0" rtlCol="0" anchor="t"/>
          <a:lstStyle/>
          <a:p>
            <a:pPr marL="152400" indent="-152400">
              <a:lnSpc>
                <a:spcPct val="106000"/>
              </a:lnSpc>
              <a:spcAft>
                <a:spcPts val="800"/>
              </a:spcAft>
              <a:buSzPct val="100000"/>
              <a:buChar char="–"/>
            </a:pPr>
            <a:r>
              <a:rPr lang="en-US" sz="1350" dirty="0">
                <a:solidFill>
                  <a:srgbClr val="22263B"/>
                </a:solidFill>
                <a:latin typeface="Calibri" pitchFamily="34" charset="0"/>
                <a:ea typeface="Calibri" pitchFamily="34" charset="-122"/>
                <a:cs typeface="Calibri" pitchFamily="34" charset="-120"/>
              </a:rPr>
              <a:t>Quyết định + bối cảnh + lý do — ADR gọn (Architecture Decision Record): bối cảnh → quyết định → hậu quả</a:t>
            </a:r>
            <a:endParaRPr lang="en-US" sz="1350" dirty="0"/>
          </a:p>
          <a:p>
            <a:pPr marL="152400" indent="-152400">
              <a:lnSpc>
                <a:spcPct val="106000"/>
              </a:lnSpc>
              <a:spcAft>
                <a:spcPts val="800"/>
              </a:spcAft>
              <a:buSzPct val="100000"/>
              <a:buChar char="–"/>
            </a:pPr>
            <a:r>
              <a:rPr lang="en-US" sz="1350" dirty="0">
                <a:solidFill>
                  <a:srgbClr val="22263B"/>
                </a:solidFill>
                <a:latin typeface="Calibri" pitchFamily="34" charset="0"/>
                <a:ea typeface="Calibri" pitchFamily="34" charset="-122"/>
                <a:cs typeface="Calibri" pitchFamily="34" charset="-120"/>
              </a:rPr>
              <a:t>Câu hỏi chưa chốt</a:t>
            </a:r>
            <a:endParaRPr lang="en-US" sz="1350" dirty="0"/>
          </a:p>
          <a:p>
            <a:pPr marL="152400" indent="-152400">
              <a:lnSpc>
                <a:spcPct val="106000"/>
              </a:lnSpc>
              <a:spcAft>
                <a:spcPts val="800"/>
              </a:spcAft>
              <a:buSzPct val="100000"/>
              <a:buChar char="–"/>
            </a:pPr>
            <a:r>
              <a:rPr lang="en-US" sz="1350" dirty="0">
                <a:solidFill>
                  <a:srgbClr val="22263B"/>
                </a:solidFill>
                <a:latin typeface="Calibri" pitchFamily="34" charset="0"/>
                <a:ea typeface="Calibri" pitchFamily="34" charset="-122"/>
                <a:cs typeface="Calibri" pitchFamily="34" charset="-120"/>
              </a:rPr>
              <a:t>Ràng buộc từ khách hàng</a:t>
            </a:r>
            <a:endParaRPr lang="en-US" sz="1350" dirty="0"/>
          </a:p>
          <a:p>
            <a:pPr marL="152400" indent="-152400">
              <a:lnSpc>
                <a:spcPct val="106000"/>
              </a:lnSpc>
              <a:spcAft>
                <a:spcPts val="800"/>
              </a:spcAft>
              <a:buSzPct val="100000"/>
              <a:buChar char="–"/>
            </a:pPr>
            <a:r>
              <a:rPr lang="en-US" sz="1350" dirty="0">
                <a:solidFill>
                  <a:srgbClr val="22263B"/>
                </a:solidFill>
                <a:latin typeface="Calibri" pitchFamily="34" charset="0"/>
                <a:ea typeface="Calibri" pitchFamily="34" charset="-122"/>
                <a:cs typeface="Calibri" pitchFamily="34" charset="-120"/>
              </a:rPr>
              <a:t>AI viết chữ rất giỏi — tài liệu dễ phình mà không đúng hơn. Đừng tái tạo bộ tài liệu truyền thống đồ sộ.</a:t>
            </a:r>
            <a:endParaRPr lang="en-US" sz="1350" dirty="0"/>
          </a:p>
        </p:txBody>
      </p:sp>
      <p:sp>
        <p:nvSpPr>
          <p:cNvPr id="9" name="Shape 6"/>
          <p:cNvSpPr/>
          <p:nvPr/>
        </p:nvSpPr>
        <p:spPr>
          <a:xfrm>
            <a:off x="6199632" y="1645920"/>
            <a:ext cx="5440680" cy="3566160"/>
          </a:xfrm>
          <a:prstGeom prst="roundRect">
            <a:avLst>
              <a:gd name="adj" fmla="val 2308"/>
            </a:avLst>
          </a:prstGeom>
          <a:solidFill>
            <a:srgbClr val="EEF3FB"/>
          </a:solidFill>
          <a:ln/>
          <a:effectLst>
            <a:outerShdw sx="100000" sy="100000" kx="0" ky="0" algn="bl" rotWithShape="0" blurRad="88900" dist="25400" dir="5400000">
              <a:srgbClr val="1E2761">
                <a:alpha val="22000"/>
              </a:srgbClr>
            </a:outerShdw>
          </a:effectLst>
        </p:spPr>
      </p:sp>
      <p:sp>
        <p:nvSpPr>
          <p:cNvPr id="10" name="Shape 7"/>
          <p:cNvSpPr/>
          <p:nvPr/>
        </p:nvSpPr>
        <p:spPr>
          <a:xfrm>
            <a:off x="6519672" y="1920240"/>
            <a:ext cx="548640" cy="548640"/>
          </a:xfrm>
          <a:prstGeom prst="ellipse">
            <a:avLst/>
          </a:prstGeom>
          <a:solidFill>
            <a:srgbClr val="1E2761"/>
          </a:solidFill>
          <a:ln/>
        </p:spPr>
      </p:sp>
      <p:pic>
        <p:nvPicPr>
          <p:cNvPr id="11" name="Image 1" descr="preencoded.png">    </p:cNvPr>
          <p:cNvPicPr>
            <a:picLocks noChangeAspect="1"/>
          </p:cNvPicPr>
          <p:nvPr/>
        </p:nvPicPr>
        <p:blipFill>
          <a:blip r:embed="rId2"/>
          <a:stretch>
            <a:fillRect/>
          </a:stretch>
        </p:blipFill>
        <p:spPr>
          <a:xfrm>
            <a:off x="6662318" y="2062886"/>
            <a:ext cx="263347" cy="263347"/>
          </a:xfrm>
          <a:prstGeom prst="rect">
            <a:avLst/>
          </a:prstGeom>
        </p:spPr>
      </p:pic>
      <p:sp>
        <p:nvSpPr>
          <p:cNvPr id="12" name="Text 8"/>
          <p:cNvSpPr/>
          <p:nvPr/>
        </p:nvSpPr>
        <p:spPr>
          <a:xfrm>
            <a:off x="7223760" y="1984248"/>
            <a:ext cx="3657600" cy="45720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Sơ đồ và hình ảnh</a:t>
            </a:r>
            <a:endParaRPr lang="en-US" sz="1800" dirty="0"/>
          </a:p>
        </p:txBody>
      </p:sp>
      <p:sp>
        <p:nvSpPr>
          <p:cNvPr id="13" name="Text 9"/>
          <p:cNvSpPr/>
          <p:nvPr/>
        </p:nvSpPr>
        <p:spPr>
          <a:xfrm>
            <a:off x="6519672" y="2651760"/>
            <a:ext cx="4818888" cy="2057400"/>
          </a:xfrm>
          <a:prstGeom prst="rect">
            <a:avLst/>
          </a:prstGeom>
          <a:noFill/>
          <a:ln/>
        </p:spPr>
        <p:txBody>
          <a:bodyPr wrap="square" lIns="0" tIns="0" rIns="0" bIns="0" rtlCol="0" anchor="t"/>
          <a:lstStyle/>
          <a:p>
            <a:pPr marL="152400" indent="-152400">
              <a:lnSpc>
                <a:spcPct val="106000"/>
              </a:lnSpc>
              <a:spcAft>
                <a:spcPts val="700"/>
              </a:spcAft>
              <a:buSzPct val="100000"/>
              <a:buChar char="–"/>
            </a:pPr>
            <a:r>
              <a:rPr lang="en-US" sz="1250" dirty="0">
                <a:solidFill>
                  <a:srgbClr val="22263B"/>
                </a:solidFill>
                <a:latin typeface="Calibri" pitchFamily="34" charset="0"/>
                <a:ea typeface="Calibri" pitchFamily="34" charset="-122"/>
                <a:cs typeface="Calibri" pitchFamily="34" charset="-120"/>
              </a:rPr>
              <a:t>Mermaid — mặc định (~80%): sequence, state, ER, flow; render native GitHub / VSCode</a:t>
            </a:r>
            <a:endParaRPr lang="en-US" sz="1250" dirty="0"/>
          </a:p>
          <a:p>
            <a:pPr marL="152400" indent="-152400">
              <a:lnSpc>
                <a:spcPct val="106000"/>
              </a:lnSpc>
              <a:spcAft>
                <a:spcPts val="700"/>
              </a:spcAft>
              <a:buSzPct val="100000"/>
              <a:buChar char="–"/>
            </a:pPr>
            <a:r>
              <a:rPr lang="en-US" sz="1250" dirty="0">
                <a:solidFill>
                  <a:srgbClr val="22263B"/>
                </a:solidFill>
                <a:latin typeface="Calibri" pitchFamily="34" charset="0"/>
                <a:ea typeface="Calibri" pitchFamily="34" charset="-122"/>
                <a:cs typeface="Calibri" pitchFamily="34" charset="-120"/>
              </a:rPr>
              <a:t>PlantUML — khi cần UML chuẩn mà Mermaid thiếu (activity + swimlane, component); vẫn là text</a:t>
            </a:r>
            <a:endParaRPr lang="en-US" sz="1250" dirty="0"/>
          </a:p>
          <a:p>
            <a:pPr marL="152400" indent="-152400">
              <a:lnSpc>
                <a:spcPct val="106000"/>
              </a:lnSpc>
              <a:spcAft>
                <a:spcPts val="700"/>
              </a:spcAft>
              <a:buSzPct val="100000"/>
              <a:buChar char="–"/>
            </a:pPr>
            <a:r>
              <a:rPr lang="en-US" sz="1250" dirty="0">
                <a:solidFill>
                  <a:srgbClr val="22263B"/>
                </a:solidFill>
                <a:latin typeface="Calibri" pitchFamily="34" charset="0"/>
                <a:ea typeface="Calibri" pitchFamily="34" charset="-122"/>
                <a:cs typeface="Calibri" pitchFamily="34" charset="-120"/>
              </a:rPr>
              <a:t>drawio — khi cần layout / bản vẽ tay của SE; lưu .drawio.svg + kèm mô tả text</a:t>
            </a:r>
            <a:endParaRPr lang="en-US" sz="1250" dirty="0"/>
          </a:p>
          <a:p>
            <a:pPr marL="152400" indent="-152400">
              <a:lnSpc>
                <a:spcPct val="106000"/>
              </a:lnSpc>
              <a:spcAft>
                <a:spcPts val="700"/>
              </a:spcAft>
              <a:buSzPct val="100000"/>
              <a:buChar char="–"/>
            </a:pPr>
            <a:r>
              <a:rPr lang="en-US" sz="1250" dirty="0">
                <a:solidFill>
                  <a:srgbClr val="22263B"/>
                </a:solidFill>
                <a:latin typeface="Calibri" pitchFamily="34" charset="0"/>
                <a:ea typeface="Calibri" pitchFamily="34" charset="-122"/>
                <a:cs typeface="Calibri" pitchFamily="34" charset="-120"/>
              </a:rPr>
              <a:t>Ảnh nhúng là tri thức chết → chỉ để tham khảo, ghi rõ “không phải spec”</a:t>
            </a:r>
            <a:endParaRPr lang="en-US" sz="1250" dirty="0"/>
          </a:p>
        </p:txBody>
      </p:sp>
      <p:sp>
        <p:nvSpPr>
          <p:cNvPr id="14" name="Text 10"/>
          <p:cNvSpPr/>
          <p:nvPr/>
        </p:nvSpPr>
        <p:spPr>
          <a:xfrm>
            <a:off x="6519672" y="4709160"/>
            <a:ext cx="4818888" cy="411480"/>
          </a:xfrm>
          <a:prstGeom prst="rect">
            <a:avLst/>
          </a:prstGeom>
          <a:noFill/>
          <a:ln/>
        </p:spPr>
        <p:txBody>
          <a:bodyPr wrap="square" lIns="0" tIns="0" rIns="0" bIns="0" rtlCol="0" anchor="ctr"/>
          <a:lstStyle/>
          <a:p>
            <a:pPr indent="0" marL="0">
              <a:buNone/>
            </a:pPr>
            <a:r>
              <a:rPr lang="en-US" sz="1250" b="1" i="1" dirty="0">
                <a:solidFill>
                  <a:srgbClr val="1E2761"/>
                </a:solidFill>
                <a:latin typeface="Calibri" pitchFamily="34" charset="0"/>
                <a:ea typeface="Calibri" pitchFamily="34" charset="-122"/>
                <a:cs typeface="Calibri" pitchFamily="34" charset="-120"/>
              </a:rPr>
              <a:t>Sự thật nằm ở text — sơ đồ là view. Lệch nhau: text thắng.</a:t>
            </a:r>
            <a:endParaRPr lang="en-US" sz="1250" dirty="0"/>
          </a:p>
        </p:txBody>
      </p:sp>
      <p:sp>
        <p:nvSpPr>
          <p:cNvPr id="15" name="Text 11"/>
          <p:cNvSpPr/>
          <p:nvPr/>
        </p:nvSpPr>
        <p:spPr>
          <a:xfrm>
            <a:off x="548640" y="5486400"/>
            <a:ext cx="11091672" cy="548640"/>
          </a:xfrm>
          <a:prstGeom prst="rect">
            <a:avLst/>
          </a:prstGeom>
          <a:noFill/>
          <a:ln/>
        </p:spPr>
        <p:txBody>
          <a:bodyPr wrap="square" lIns="0" tIns="0" rIns="0" bIns="0" rtlCol="0" anchor="ctr"/>
          <a:lstStyle/>
          <a:p>
            <a:pPr algn="ctr" indent="0" marL="0">
              <a:buNone/>
            </a:pPr>
            <a:r>
              <a:rPr lang="en-US" sz="2000" b="1" i="1" dirty="0">
                <a:solidFill>
                  <a:srgbClr val="02C39A"/>
                </a:solidFill>
                <a:latin typeface="Cambria" pitchFamily="34" charset="0"/>
                <a:ea typeface="Cambria" pitchFamily="34" charset="-122"/>
                <a:cs typeface="Cambria" pitchFamily="34" charset="-120"/>
              </a:rPr>
              <a:t>“Ngắn mà đúng thắng dài mà mượt.”</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10972800" cy="292608"/>
          </a:xfrm>
          <a:prstGeom prst="rect">
            <a:avLst/>
          </a:prstGeom>
          <a:noFill/>
          <a:ln/>
        </p:spPr>
        <p:txBody>
          <a:bodyPr wrap="square" lIns="0" tIns="0" rIns="0" bIns="0" rtlCol="0" anchor="ctr"/>
          <a:lstStyle/>
          <a:p>
            <a:pPr indent="0" marL="0">
              <a:buNone/>
            </a:pPr>
            <a:r>
              <a:rPr lang="en-US" sz="1200" b="1" spc="300" kern="0" dirty="0">
                <a:solidFill>
                  <a:srgbClr val="02C39A"/>
                </a:solidFill>
                <a:latin typeface="Calibri" pitchFamily="34" charset="0"/>
                <a:ea typeface="Calibri" pitchFamily="34" charset="-122"/>
                <a:cs typeface="Calibri" pitchFamily="34" charset="-120"/>
              </a:rPr>
              <a:t>INSTRUCTION FILE</a:t>
            </a:r>
            <a:endParaRPr lang="en-US" sz="1200" dirty="0"/>
          </a:p>
        </p:txBody>
      </p:sp>
      <p:sp>
        <p:nvSpPr>
          <p:cNvPr id="3" name="Text 1"/>
          <p:cNvSpPr/>
          <p:nvPr/>
        </p:nvSpPr>
        <p:spPr>
          <a:xfrm>
            <a:off x="548640" y="621792"/>
            <a:ext cx="11064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Phần của AI — instruction file trong repo</a:t>
            </a:r>
            <a:endParaRPr lang="en-US" sz="3000" dirty="0"/>
          </a:p>
        </p:txBody>
      </p:sp>
      <p:sp>
        <p:nvSpPr>
          <p:cNvPr id="4" name="Shape 2"/>
          <p:cNvSpPr/>
          <p:nvPr/>
        </p:nvSpPr>
        <p:spPr>
          <a:xfrm>
            <a:off x="548640" y="1737360"/>
            <a:ext cx="2194560" cy="502920"/>
          </a:xfrm>
          <a:prstGeom prst="roundRect">
            <a:avLst>
              <a:gd name="adj" fmla="val 12727"/>
            </a:avLst>
          </a:prstGeom>
          <a:solidFill>
            <a:srgbClr val="EEF3FB"/>
          </a:solidFill>
          <a:ln w="12700">
            <a:solidFill>
              <a:srgbClr val="CADCFC"/>
            </a:solidFill>
            <a:prstDash val="solid"/>
          </a:ln>
        </p:spPr>
      </p:sp>
      <p:sp>
        <p:nvSpPr>
          <p:cNvPr id="5" name="Text 3"/>
          <p:cNvSpPr/>
          <p:nvPr/>
        </p:nvSpPr>
        <p:spPr>
          <a:xfrm>
            <a:off x="548640" y="1737360"/>
            <a:ext cx="2194560" cy="502920"/>
          </a:xfrm>
          <a:prstGeom prst="rect">
            <a:avLst/>
          </a:prstGeom>
          <a:noFill/>
          <a:ln/>
        </p:spPr>
        <p:txBody>
          <a:bodyPr wrap="square" lIns="0" tIns="0" rIns="0" bIns="0" rtlCol="0" anchor="ctr"/>
          <a:lstStyle/>
          <a:p>
            <a:pPr algn="ctr" indent="0" marL="0">
              <a:buNone/>
            </a:pPr>
            <a:r>
              <a:rPr lang="en-US" sz="1150" dirty="0">
                <a:solidFill>
                  <a:srgbClr val="1E2761"/>
                </a:solidFill>
                <a:latin typeface="Courier New" pitchFamily="34" charset="0"/>
                <a:ea typeface="Courier New" pitchFamily="34" charset="-122"/>
                <a:cs typeface="Courier New" pitchFamily="34" charset="-120"/>
              </a:rPr>
              <a:t>CLAUDE.md</a:t>
            </a:r>
            <a:endParaRPr lang="en-US" sz="1150" dirty="0"/>
          </a:p>
        </p:txBody>
      </p:sp>
      <p:sp>
        <p:nvSpPr>
          <p:cNvPr id="6" name="Shape 4"/>
          <p:cNvSpPr/>
          <p:nvPr/>
        </p:nvSpPr>
        <p:spPr>
          <a:xfrm>
            <a:off x="2834640" y="1737360"/>
            <a:ext cx="2194560" cy="502920"/>
          </a:xfrm>
          <a:prstGeom prst="roundRect">
            <a:avLst>
              <a:gd name="adj" fmla="val 12727"/>
            </a:avLst>
          </a:prstGeom>
          <a:solidFill>
            <a:srgbClr val="EEF3FB"/>
          </a:solidFill>
          <a:ln w="12700">
            <a:solidFill>
              <a:srgbClr val="CADCFC"/>
            </a:solidFill>
            <a:prstDash val="solid"/>
          </a:ln>
        </p:spPr>
      </p:sp>
      <p:sp>
        <p:nvSpPr>
          <p:cNvPr id="7" name="Text 5"/>
          <p:cNvSpPr/>
          <p:nvPr/>
        </p:nvSpPr>
        <p:spPr>
          <a:xfrm>
            <a:off x="2834640" y="1737360"/>
            <a:ext cx="2194560" cy="502920"/>
          </a:xfrm>
          <a:prstGeom prst="rect">
            <a:avLst/>
          </a:prstGeom>
          <a:noFill/>
          <a:ln/>
        </p:spPr>
        <p:txBody>
          <a:bodyPr wrap="square" lIns="0" tIns="0" rIns="0" bIns="0" rtlCol="0" anchor="ctr"/>
          <a:lstStyle/>
          <a:p>
            <a:pPr algn="ctr" indent="0" marL="0">
              <a:buNone/>
            </a:pPr>
            <a:r>
              <a:rPr lang="en-US" sz="1150" dirty="0">
                <a:solidFill>
                  <a:srgbClr val="1E2761"/>
                </a:solidFill>
                <a:latin typeface="Courier New" pitchFamily="34" charset="0"/>
                <a:ea typeface="Courier New" pitchFamily="34" charset="-122"/>
                <a:cs typeface="Courier New" pitchFamily="34" charset="-120"/>
              </a:rPr>
              <a:t>.cursor/rules</a:t>
            </a:r>
            <a:endParaRPr lang="en-US" sz="1150" dirty="0"/>
          </a:p>
        </p:txBody>
      </p:sp>
      <p:sp>
        <p:nvSpPr>
          <p:cNvPr id="8" name="Shape 6"/>
          <p:cNvSpPr/>
          <p:nvPr/>
        </p:nvSpPr>
        <p:spPr>
          <a:xfrm>
            <a:off x="2788920" y="2240280"/>
            <a:ext cx="0" cy="256032"/>
          </a:xfrm>
          <a:prstGeom prst="line">
            <a:avLst/>
          </a:prstGeom>
          <a:noFill/>
          <a:ln w="19050">
            <a:solidFill>
              <a:srgbClr val="5A6178"/>
            </a:solidFill>
            <a:prstDash val="solid"/>
            <a:tailEnd type="arrow"/>
          </a:ln>
        </p:spPr>
      </p:sp>
      <p:sp>
        <p:nvSpPr>
          <p:cNvPr id="9" name="Shape 7"/>
          <p:cNvSpPr/>
          <p:nvPr/>
        </p:nvSpPr>
        <p:spPr>
          <a:xfrm>
            <a:off x="548640" y="2496312"/>
            <a:ext cx="4480560" cy="841248"/>
          </a:xfrm>
          <a:prstGeom prst="roundRect">
            <a:avLst>
              <a:gd name="adj" fmla="val 8696"/>
            </a:avLst>
          </a:prstGeom>
          <a:solidFill>
            <a:srgbClr val="CADCFC"/>
          </a:solidFill>
          <a:ln/>
          <a:effectLst>
            <a:outerShdw sx="100000" sy="100000" kx="0" ky="0" algn="bl" rotWithShape="0" blurRad="88900" dist="25400" dir="5400000">
              <a:srgbClr val="1E2761">
                <a:alpha val="22000"/>
              </a:srgbClr>
            </a:outerShdw>
          </a:effectLst>
        </p:spPr>
      </p:sp>
      <p:sp>
        <p:nvSpPr>
          <p:cNvPr id="10" name="Text 8"/>
          <p:cNvSpPr/>
          <p:nvPr/>
        </p:nvSpPr>
        <p:spPr>
          <a:xfrm>
            <a:off x="548640" y="2606040"/>
            <a:ext cx="4480560" cy="384048"/>
          </a:xfrm>
          <a:prstGeom prst="rect">
            <a:avLst/>
          </a:prstGeom>
          <a:noFill/>
          <a:ln/>
        </p:spPr>
        <p:txBody>
          <a:bodyPr wrap="square" lIns="0" tIns="0" rIns="0" bIns="0" rtlCol="0" anchor="ctr"/>
          <a:lstStyle/>
          <a:p>
            <a:pPr algn="ctr" indent="0" marL="0">
              <a:buNone/>
            </a:pPr>
            <a:r>
              <a:rPr lang="en-US" sz="1300" b="1" dirty="0">
                <a:solidFill>
                  <a:srgbClr val="1E2761"/>
                </a:solidFill>
                <a:latin typeface="Courier New" pitchFamily="34" charset="0"/>
                <a:ea typeface="Courier New" pitchFamily="34" charset="-122"/>
                <a:cs typeface="Courier New" pitchFamily="34" charset="-120"/>
              </a:rPr>
              <a:t>AGENTS.md</a:t>
            </a:r>
            <a:endParaRPr lang="en-US" sz="1300" dirty="0"/>
          </a:p>
        </p:txBody>
      </p:sp>
      <p:sp>
        <p:nvSpPr>
          <p:cNvPr id="11" name="Text 9"/>
          <p:cNvSpPr/>
          <p:nvPr/>
        </p:nvSpPr>
        <p:spPr>
          <a:xfrm>
            <a:off x="548640" y="2980944"/>
            <a:ext cx="4480560" cy="310896"/>
          </a:xfrm>
          <a:prstGeom prst="rect">
            <a:avLst/>
          </a:prstGeom>
          <a:noFill/>
          <a:ln/>
        </p:spPr>
        <p:txBody>
          <a:bodyPr wrap="square" lIns="0" tIns="0" rIns="0" bIns="0" rtlCol="0" anchor="ctr"/>
          <a:lstStyle/>
          <a:p>
            <a:pPr algn="ctr" indent="0" marL="0">
              <a:buNone/>
            </a:pPr>
            <a:r>
              <a:rPr lang="en-US" sz="1050" dirty="0">
                <a:solidFill>
                  <a:srgbClr val="1E2761"/>
                </a:solidFill>
                <a:latin typeface="Calibri" pitchFamily="34" charset="0"/>
                <a:ea typeface="Calibri" pitchFamily="34" charset="-122"/>
                <a:cs typeface="Calibri" pitchFamily="34" charset="-120"/>
              </a:rPr>
              <a:t>file gốc CỦA DỰ ÁN — luật riêng + 1 dòng link</a:t>
            </a:r>
            <a:endParaRPr lang="en-US" sz="1050" dirty="0"/>
          </a:p>
        </p:txBody>
      </p:sp>
      <p:sp>
        <p:nvSpPr>
          <p:cNvPr id="12" name="Shape 10"/>
          <p:cNvSpPr/>
          <p:nvPr/>
        </p:nvSpPr>
        <p:spPr>
          <a:xfrm>
            <a:off x="2788920" y="3337560"/>
            <a:ext cx="0" cy="237744"/>
          </a:xfrm>
          <a:prstGeom prst="line">
            <a:avLst/>
          </a:prstGeom>
          <a:noFill/>
          <a:ln w="19050">
            <a:solidFill>
              <a:srgbClr val="5A6178"/>
            </a:solidFill>
            <a:prstDash val="solid"/>
            <a:tailEnd type="arrow"/>
          </a:ln>
        </p:spPr>
      </p:sp>
      <p:sp>
        <p:nvSpPr>
          <p:cNvPr id="13" name="Shape 11"/>
          <p:cNvSpPr/>
          <p:nvPr/>
        </p:nvSpPr>
        <p:spPr>
          <a:xfrm>
            <a:off x="548640" y="3575304"/>
            <a:ext cx="4480560" cy="841248"/>
          </a:xfrm>
          <a:prstGeom prst="roundRect">
            <a:avLst>
              <a:gd name="adj" fmla="val 8696"/>
            </a:avLst>
          </a:prstGeom>
          <a:solidFill>
            <a:srgbClr val="02C39A"/>
          </a:solidFill>
          <a:ln/>
          <a:effectLst>
            <a:outerShdw sx="100000" sy="100000" kx="0" ky="0" algn="bl" rotWithShape="0" blurRad="88900" dist="25400" dir="5400000">
              <a:srgbClr val="1E2761">
                <a:alpha val="22000"/>
              </a:srgbClr>
            </a:outerShdw>
          </a:effectLst>
        </p:spPr>
      </p:sp>
      <p:sp>
        <p:nvSpPr>
          <p:cNvPr id="14" name="Text 12"/>
          <p:cNvSpPr/>
          <p:nvPr/>
        </p:nvSpPr>
        <p:spPr>
          <a:xfrm>
            <a:off x="548640" y="3685032"/>
            <a:ext cx="4480560" cy="384048"/>
          </a:xfrm>
          <a:prstGeom prst="rect">
            <a:avLst/>
          </a:prstGeom>
          <a:noFill/>
          <a:ln/>
        </p:spPr>
        <p:txBody>
          <a:bodyPr wrap="square" lIns="0" tIns="0" rIns="0" bIns="0" rtlCol="0" anchor="ctr"/>
          <a:lstStyle/>
          <a:p>
            <a:pPr algn="ctr" indent="0" marL="0">
              <a:buNone/>
            </a:pPr>
            <a:r>
              <a:rPr lang="en-US" sz="1300" b="1" dirty="0">
                <a:solidFill>
                  <a:srgbClr val="1E2761"/>
                </a:solidFill>
                <a:latin typeface="Courier New" pitchFamily="34" charset="0"/>
                <a:ea typeface="Courier New" pitchFamily="34" charset="-122"/>
                <a:cs typeface="Courier New" pitchFamily="34" charset="-120"/>
              </a:rPr>
              <a:t>AGENTS-SystemDesign.md</a:t>
            </a:r>
            <a:endParaRPr lang="en-US" sz="1300" dirty="0"/>
          </a:p>
        </p:txBody>
      </p:sp>
      <p:sp>
        <p:nvSpPr>
          <p:cNvPr id="15" name="Text 13"/>
          <p:cNvSpPr/>
          <p:nvPr/>
        </p:nvSpPr>
        <p:spPr>
          <a:xfrm>
            <a:off x="548640" y="4059936"/>
            <a:ext cx="4480560" cy="310896"/>
          </a:xfrm>
          <a:prstGeom prst="rect">
            <a:avLst/>
          </a:prstGeom>
          <a:noFill/>
          <a:ln/>
        </p:spPr>
        <p:txBody>
          <a:bodyPr wrap="square" lIns="0" tIns="0" rIns="0" bIns="0" rtlCol="0" anchor="ctr"/>
          <a:lstStyle/>
          <a:p>
            <a:pPr algn="ctr" indent="0" marL="0">
              <a:buNone/>
            </a:pPr>
            <a:r>
              <a:rPr lang="en-US" sz="1050" dirty="0">
                <a:solidFill>
                  <a:srgbClr val="1E2761"/>
                </a:solidFill>
                <a:latin typeface="Calibri" pitchFamily="34" charset="0"/>
                <a:ea typeface="Calibri" pitchFamily="34" charset="-122"/>
                <a:cs typeface="Calibri" pitchFamily="34" charset="-120"/>
              </a:rPr>
              <a:t>adapter — 3 hành vi luôn trực chiến</a:t>
            </a:r>
            <a:endParaRPr lang="en-US" sz="1050" dirty="0"/>
          </a:p>
        </p:txBody>
      </p:sp>
      <p:sp>
        <p:nvSpPr>
          <p:cNvPr id="16" name="Shape 14"/>
          <p:cNvSpPr/>
          <p:nvPr/>
        </p:nvSpPr>
        <p:spPr>
          <a:xfrm>
            <a:off x="2788920" y="4416552"/>
            <a:ext cx="0" cy="237744"/>
          </a:xfrm>
          <a:prstGeom prst="line">
            <a:avLst/>
          </a:prstGeom>
          <a:noFill/>
          <a:ln w="19050">
            <a:solidFill>
              <a:srgbClr val="5A6178"/>
            </a:solidFill>
            <a:prstDash val="solid"/>
            <a:tailEnd type="arrow"/>
          </a:ln>
        </p:spPr>
      </p:sp>
      <p:sp>
        <p:nvSpPr>
          <p:cNvPr id="17" name="Shape 15"/>
          <p:cNvSpPr/>
          <p:nvPr/>
        </p:nvSpPr>
        <p:spPr>
          <a:xfrm>
            <a:off x="548640" y="4654296"/>
            <a:ext cx="4480560" cy="841248"/>
          </a:xfrm>
          <a:prstGeom prst="roundRect">
            <a:avLst>
              <a:gd name="adj" fmla="val 8696"/>
            </a:avLst>
          </a:prstGeom>
          <a:solidFill>
            <a:srgbClr val="1E2761"/>
          </a:solidFill>
          <a:ln/>
          <a:effectLst>
            <a:outerShdw sx="100000" sy="100000" kx="0" ky="0" algn="bl" rotWithShape="0" blurRad="88900" dist="25400" dir="5400000">
              <a:srgbClr val="1E2761">
                <a:alpha val="22000"/>
              </a:srgbClr>
            </a:outerShdw>
          </a:effectLst>
        </p:spPr>
      </p:sp>
      <p:sp>
        <p:nvSpPr>
          <p:cNvPr id="18" name="Text 16"/>
          <p:cNvSpPr/>
          <p:nvPr/>
        </p:nvSpPr>
        <p:spPr>
          <a:xfrm>
            <a:off x="548640" y="4764024"/>
            <a:ext cx="448056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docs/SystemDesign/AGENTS.md</a:t>
            </a:r>
            <a:endParaRPr lang="en-US" sz="1300" dirty="0"/>
          </a:p>
        </p:txBody>
      </p:sp>
      <p:sp>
        <p:nvSpPr>
          <p:cNvPr id="19" name="Text 17"/>
          <p:cNvSpPr/>
          <p:nvPr/>
        </p:nvSpPr>
        <p:spPr>
          <a:xfrm>
            <a:off x="548640" y="5138928"/>
            <a:ext cx="4480560" cy="310896"/>
          </a:xfrm>
          <a:prstGeom prst="rect">
            <a:avLst/>
          </a:prstGeom>
          <a:noFill/>
          <a:ln/>
        </p:spPr>
        <p:txBody>
          <a:bodyPr wrap="square" lIns="0" tIns="0" rIns="0" bIns="0" rtlCol="0" anchor="ctr"/>
          <a:lstStyle/>
          <a:p>
            <a:pPr algn="ctr" indent="0" marL="0">
              <a:buNone/>
            </a:pPr>
            <a:r>
              <a:rPr lang="en-US" sz="1050" dirty="0">
                <a:solidFill>
                  <a:srgbClr val="CADCFC"/>
                </a:solidFill>
                <a:latin typeface="Calibri" pitchFamily="34" charset="0"/>
                <a:ea typeface="Calibri" pitchFamily="34" charset="-122"/>
                <a:cs typeface="Calibri" pitchFamily="34" charset="-120"/>
              </a:rPr>
              <a:t>toàn bộ luật vùng tài liệu — nạp khi cần</a:t>
            </a:r>
            <a:endParaRPr lang="en-US" sz="1050" dirty="0"/>
          </a:p>
        </p:txBody>
      </p:sp>
      <p:sp>
        <p:nvSpPr>
          <p:cNvPr id="20" name="Text 18"/>
          <p:cNvSpPr/>
          <p:nvPr/>
        </p:nvSpPr>
        <p:spPr>
          <a:xfrm>
            <a:off x="548640" y="5632704"/>
            <a:ext cx="4480560" cy="777240"/>
          </a:xfrm>
          <a:prstGeom prst="rect">
            <a:avLst/>
          </a:prstGeom>
          <a:noFill/>
          <a:ln/>
        </p:spPr>
        <p:txBody>
          <a:bodyPr wrap="square" lIns="0" tIns="0" rIns="0" bIns="0" rtlCol="0" anchor="ctr"/>
          <a:lstStyle/>
          <a:p>
            <a:pPr indent="0" marL="0">
              <a:lnSpc>
                <a:spcPct val="112000"/>
              </a:lnSpc>
              <a:buNone/>
            </a:pPr>
            <a:r>
              <a:rPr lang="en-US" sz="1150" i="1" dirty="0">
                <a:solidFill>
                  <a:srgbClr val="5A6178"/>
                </a:solidFill>
                <a:latin typeface="Calibri" pitchFamily="34" charset="0"/>
                <a:ea typeface="Calibri" pitchFamily="34" charset="-122"/>
                <a:cs typeface="Calibri" pitchFamily="34" charset="-120"/>
              </a:rPr>
              <a:t>Bộ quy tắc của ta = 2 file dưới cùng — nâng cấp chỉ copy đè, không đụng luật riêng của dự án. Nội dung quy tắc sống lâu hơn lựa chọn công cụ.</a:t>
            </a:r>
            <a:endParaRPr lang="en-US" sz="1150" dirty="0"/>
          </a:p>
        </p:txBody>
      </p:sp>
      <p:sp>
        <p:nvSpPr>
          <p:cNvPr id="21" name="Text 19"/>
          <p:cNvSpPr/>
          <p:nvPr/>
        </p:nvSpPr>
        <p:spPr>
          <a:xfrm>
            <a:off x="5486400" y="1691640"/>
            <a:ext cx="6126480" cy="41148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AI được quy định phải:</a:t>
            </a:r>
            <a:endParaRPr lang="en-US" sz="1700" dirty="0"/>
          </a:p>
        </p:txBody>
      </p:sp>
      <p:sp>
        <p:nvSpPr>
          <p:cNvPr id="22" name="Text 20"/>
          <p:cNvSpPr/>
          <p:nvPr/>
        </p:nvSpPr>
        <p:spPr>
          <a:xfrm>
            <a:off x="5486400" y="2194560"/>
            <a:ext cx="6126480" cy="3017520"/>
          </a:xfrm>
          <a:prstGeom prst="rect">
            <a:avLst/>
          </a:prstGeom>
          <a:noFill/>
          <a:ln/>
        </p:spPr>
        <p:txBody>
          <a:bodyPr wrap="square" lIns="0" tIns="0" rIns="0" bIns="0" rtlCol="0" anchor="t"/>
          <a:lstStyle/>
          <a:p>
            <a:pPr marL="152400" indent="-152400">
              <a:lnSpc>
                <a:spcPct val="106000"/>
              </a:lnSpc>
              <a:spcAft>
                <a:spcPts val="900"/>
              </a:spcAft>
              <a:buSzPct val="100000"/>
              <a:buChar char="–"/>
            </a:pPr>
            <a:r>
              <a:rPr lang="en-US" sz="1350" dirty="0">
                <a:solidFill>
                  <a:srgbClr val="22263B"/>
                </a:solidFill>
                <a:latin typeface="Calibri" pitchFamily="34" charset="0"/>
                <a:ea typeface="Calibri" pitchFamily="34" charset="-122"/>
                <a:cs typeface="Calibri" pitchFamily="34" charset="-120"/>
              </a:rPr>
              <a:t>Tự quyết vị trí lưu theo cơ cấu docs; tự cập nhật mục lục và liên kết chéo</a:t>
            </a:r>
            <a:endParaRPr lang="en-US" sz="1350" dirty="0"/>
          </a:p>
          <a:p>
            <a:pPr marL="152400" indent="-152400">
              <a:lnSpc>
                <a:spcPct val="106000"/>
              </a:lnSpc>
              <a:spcAft>
                <a:spcPts val="900"/>
              </a:spcAft>
              <a:buSzPct val="100000"/>
              <a:buChar char="–"/>
            </a:pPr>
            <a:r>
              <a:rPr lang="en-US" sz="1350" dirty="0">
                <a:solidFill>
                  <a:srgbClr val="22263B"/>
                </a:solidFill>
                <a:latin typeface="Calibri" pitchFamily="34" charset="0"/>
                <a:ea typeface="Calibri" pitchFamily="34" charset="-122"/>
                <a:cs typeface="Calibri" pitchFamily="34" charset="-120"/>
              </a:rPr>
              <a:t>Liệt kê kế hoạch trước khi sửa — diff nhỏ, không regenerate cả cụm tài liệu</a:t>
            </a:r>
            <a:endParaRPr lang="en-US" sz="1350" dirty="0"/>
          </a:p>
          <a:p>
            <a:pPr marL="152400" indent="-152400">
              <a:lnSpc>
                <a:spcPct val="106000"/>
              </a:lnSpc>
              <a:spcAft>
                <a:spcPts val="900"/>
              </a:spcAft>
              <a:buSzPct val="100000"/>
              <a:buChar char="–"/>
            </a:pPr>
            <a:r>
              <a:rPr lang="en-US" sz="1350" dirty="0">
                <a:solidFill>
                  <a:srgbClr val="22263B"/>
                </a:solidFill>
                <a:latin typeface="Calibri" pitchFamily="34" charset="0"/>
                <a:ea typeface="Calibri" pitchFamily="34" charset="-122"/>
                <a:cs typeface="Calibri" pitchFamily="34" charset="-120"/>
              </a:rPr>
              <a:t>Khai báo chỗ mờ khi chuyển đổi tài liệu nguồn</a:t>
            </a:r>
            <a:endParaRPr lang="en-US" sz="1350" dirty="0"/>
          </a:p>
          <a:p>
            <a:pPr marL="152400" indent="-152400">
              <a:lnSpc>
                <a:spcPct val="106000"/>
              </a:lnSpc>
              <a:spcAft>
                <a:spcPts val="900"/>
              </a:spcAft>
              <a:buSzPct val="100000"/>
              <a:buChar char="–"/>
            </a:pPr>
            <a:r>
              <a:rPr lang="en-US" sz="1350" dirty="0">
                <a:solidFill>
                  <a:srgbClr val="22263B"/>
                </a:solidFill>
                <a:latin typeface="Calibri" pitchFamily="34" charset="0"/>
                <a:ea typeface="Calibri" pitchFamily="34" charset="-122"/>
                <a:cs typeface="Calibri" pitchFamily="34" charset="-120"/>
              </a:rPr>
              <a:t>Chủ động đề nghị ghi lại quyết định hình thành trong hội thoại</a:t>
            </a:r>
            <a:endParaRPr lang="en-US" sz="1350" dirty="0"/>
          </a:p>
          <a:p>
            <a:pPr marL="152400" indent="-152400">
              <a:lnSpc>
                <a:spcPct val="106000"/>
              </a:lnSpc>
              <a:spcAft>
                <a:spcPts val="900"/>
              </a:spcAft>
              <a:buSzPct val="100000"/>
              <a:buChar char="–"/>
            </a:pPr>
            <a:r>
              <a:rPr lang="en-US" sz="1350" dirty="0">
                <a:solidFill>
                  <a:srgbClr val="22263B"/>
                </a:solidFill>
                <a:latin typeface="Calibri" pitchFamily="34" charset="0"/>
                <a:ea typeface="Calibri" pitchFamily="34" charset="-122"/>
                <a:cs typeface="Calibri" pitchFamily="34" charset="-120"/>
              </a:rPr>
              <a:t>Sơ đồ bằng Mermaid — không tạo ảnh nhúng cho spec</a:t>
            </a:r>
            <a:endParaRPr lang="en-US" sz="1350" dirty="0"/>
          </a:p>
          <a:p>
            <a:pPr marL="152400" indent="-152400">
              <a:lnSpc>
                <a:spcPct val="106000"/>
              </a:lnSpc>
              <a:spcAft>
                <a:spcPts val="900"/>
              </a:spcAft>
              <a:buSzPct val="100000"/>
              <a:buChar char="–"/>
            </a:pPr>
            <a:r>
              <a:rPr lang="en-US" sz="1350" dirty="0">
                <a:solidFill>
                  <a:srgbClr val="22263B"/>
                </a:solidFill>
                <a:latin typeface="Calibri" pitchFamily="34" charset="0"/>
                <a:ea typeface="Calibri" pitchFamily="34" charset="-122"/>
                <a:cs typeface="Calibri" pitchFamily="34" charset="-120"/>
              </a:rPr>
              <a:t>Tôn trọng status: agreed-customer không tự sửa; ghi changelog gọn khi cập nhật</a:t>
            </a:r>
            <a:endParaRPr lang="en-US" sz="1350" dirty="0"/>
          </a:p>
        </p:txBody>
      </p:sp>
      <p:sp>
        <p:nvSpPr>
          <p:cNvPr id="23" name="Shape 21"/>
          <p:cNvSpPr/>
          <p:nvPr/>
        </p:nvSpPr>
        <p:spPr>
          <a:xfrm>
            <a:off x="5486400" y="5349240"/>
            <a:ext cx="6126480" cy="868680"/>
          </a:xfrm>
          <a:prstGeom prst="roundRect">
            <a:avLst>
              <a:gd name="adj" fmla="val 9474"/>
            </a:avLst>
          </a:prstGeom>
          <a:solidFill>
            <a:srgbClr val="1E2761"/>
          </a:solidFill>
          <a:ln/>
          <a:effectLst>
            <a:outerShdw sx="100000" sy="100000" kx="0" ky="0" algn="bl" rotWithShape="0" blurRad="88900" dist="25400" dir="5400000">
              <a:srgbClr val="1E2761">
                <a:alpha val="22000"/>
              </a:srgbClr>
            </a:outerShdw>
          </a:effectLst>
        </p:spPr>
      </p:sp>
      <p:sp>
        <p:nvSpPr>
          <p:cNvPr id="24" name="Text 22"/>
          <p:cNvSpPr/>
          <p:nvPr/>
        </p:nvSpPr>
        <p:spPr>
          <a:xfrm>
            <a:off x="5760720" y="5349240"/>
            <a:ext cx="5577840" cy="868680"/>
          </a:xfrm>
          <a:prstGeom prst="rect">
            <a:avLst/>
          </a:prstGeom>
          <a:noFill/>
          <a:ln/>
        </p:spPr>
        <p:txBody>
          <a:bodyPr wrap="square" lIns="0" tIns="0" rIns="0" bIns="0" rtlCol="0" anchor="ctr"/>
          <a:lstStyle/>
          <a:p>
            <a:pPr indent="0" marL="0">
              <a:lnSpc>
                <a:spcPct val="110000"/>
              </a:lnSpc>
              <a:buNone/>
            </a:pPr>
            <a:r>
              <a:rPr lang="en-US" sz="1300" b="1" dirty="0">
                <a:solidFill>
                  <a:srgbClr val="FFFFFF"/>
                </a:solidFill>
                <a:latin typeface="Calibri" pitchFamily="34" charset="0"/>
                <a:ea typeface="Calibri" pitchFamily="34" charset="-122"/>
                <a:cs typeface="Calibri" pitchFamily="34" charset="-120"/>
              </a:rPr>
              <a:t>Ai mở repo bằng AI assistant nào cũng vào cùng một nề nếp — lời giải cho “mỗi người một kiểu”.</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10972800" cy="292608"/>
          </a:xfrm>
          <a:prstGeom prst="rect">
            <a:avLst/>
          </a:prstGeom>
          <a:noFill/>
          <a:ln/>
        </p:spPr>
        <p:txBody>
          <a:bodyPr wrap="square" lIns="0" tIns="0" rIns="0" bIns="0" rtlCol="0" anchor="ctr"/>
          <a:lstStyle/>
          <a:p>
            <a:pPr indent="0" marL="0">
              <a:buNone/>
            </a:pPr>
            <a:r>
              <a:rPr lang="en-US" sz="1200" b="1" spc="300" kern="0" dirty="0">
                <a:solidFill>
                  <a:srgbClr val="02C39A"/>
                </a:solidFill>
                <a:latin typeface="Calibri" pitchFamily="34" charset="0"/>
                <a:ea typeface="Calibri" pitchFamily="34" charset="-122"/>
                <a:cs typeface="Calibri" pitchFamily="34" charset="-120"/>
              </a:rPr>
              <a:t>CẢNH GIÁC</a:t>
            </a:r>
            <a:endParaRPr lang="en-US" sz="1200" dirty="0"/>
          </a:p>
        </p:txBody>
      </p:sp>
      <p:sp>
        <p:nvSpPr>
          <p:cNvPr id="3" name="Text 1"/>
          <p:cNvSpPr/>
          <p:nvPr/>
        </p:nvSpPr>
        <p:spPr>
          <a:xfrm>
            <a:off x="548640" y="621792"/>
            <a:ext cx="11064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Rủi ro lớn nhất không nằm ở AI — nằm ở khâu review</a:t>
            </a:r>
            <a:endParaRPr lang="en-US" sz="3000" dirty="0"/>
          </a:p>
        </p:txBody>
      </p:sp>
      <p:sp>
        <p:nvSpPr>
          <p:cNvPr id="4" name="Shape 2"/>
          <p:cNvSpPr/>
          <p:nvPr/>
        </p:nvSpPr>
        <p:spPr>
          <a:xfrm>
            <a:off x="548640" y="1600200"/>
            <a:ext cx="5440680" cy="2148840"/>
          </a:xfrm>
          <a:prstGeom prst="roundRect">
            <a:avLst>
              <a:gd name="adj" fmla="val 3830"/>
            </a:avLst>
          </a:prstGeom>
          <a:solidFill>
            <a:srgbClr val="EEF3FB"/>
          </a:solidFill>
          <a:ln/>
          <a:effectLst>
            <a:outerShdw sx="100000" sy="100000" kx="0" ky="0" algn="bl" rotWithShape="0" blurRad="88900" dist="25400" dir="5400000">
              <a:srgbClr val="1E2761">
                <a:alpha val="22000"/>
              </a:srgbClr>
            </a:outerShdw>
          </a:effectLst>
        </p:spPr>
      </p:sp>
      <p:sp>
        <p:nvSpPr>
          <p:cNvPr id="5" name="Shape 3"/>
          <p:cNvSpPr/>
          <p:nvPr/>
        </p:nvSpPr>
        <p:spPr>
          <a:xfrm>
            <a:off x="804672" y="1856232"/>
            <a:ext cx="512064" cy="512064"/>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937809" y="1989369"/>
            <a:ext cx="245791" cy="245791"/>
          </a:xfrm>
          <a:prstGeom prst="rect">
            <a:avLst/>
          </a:prstGeom>
        </p:spPr>
      </p:pic>
      <p:sp>
        <p:nvSpPr>
          <p:cNvPr id="7" name="Text 4"/>
          <p:cNvSpPr/>
          <p:nvPr/>
        </p:nvSpPr>
        <p:spPr>
          <a:xfrm>
            <a:off x="1508760" y="1837944"/>
            <a:ext cx="4251960" cy="411480"/>
          </a:xfrm>
          <a:prstGeom prst="rect">
            <a:avLst/>
          </a:prstGeom>
          <a:noFill/>
          <a:ln/>
        </p:spPr>
        <p:txBody>
          <a:bodyPr wrap="square" lIns="0" tIns="0" rIns="0" bIns="0"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Review hình thức</a:t>
            </a:r>
            <a:endParaRPr lang="en-US" sz="1550" dirty="0"/>
          </a:p>
        </p:txBody>
      </p:sp>
      <p:sp>
        <p:nvSpPr>
          <p:cNvPr id="8" name="Text 5"/>
          <p:cNvSpPr/>
          <p:nvPr/>
        </p:nvSpPr>
        <p:spPr>
          <a:xfrm>
            <a:off x="1508760" y="2276856"/>
            <a:ext cx="4206240" cy="1280160"/>
          </a:xfrm>
          <a:prstGeom prst="rect">
            <a:avLst/>
          </a:prstGeom>
          <a:noFill/>
          <a:ln/>
        </p:spPr>
        <p:txBody>
          <a:bodyPr wrap="square" lIns="0" tIns="0" rIns="0" bIns="0" rtlCol="0" anchor="t"/>
          <a:lstStyle/>
          <a:p>
            <a:pPr indent="0" marL="0">
              <a:lnSpc>
                <a:spcPct val="108000"/>
              </a:lnSpc>
              <a:spcAft>
                <a:spcPts val="400"/>
              </a:spcAft>
              <a:buNone/>
            </a:pPr>
            <a:r>
              <a:rPr lang="en-US" sz="1180" dirty="0">
                <a:solidFill>
                  <a:srgbClr val="22263B"/>
                </a:solidFill>
                <a:latin typeface="Calibri" pitchFamily="34" charset="0"/>
                <a:ea typeface="Calibri" pitchFamily="34" charset="-122"/>
                <a:cs typeface="Calibri" pitchFamily="34" charset="-120"/>
              </a:rPr>
              <a:t>AI viết trôi chảy → người đọc lướt rồi gật. Spec lệch một chút nhưng trông hợp lý sẽ thành chính thức.</a:t>
            </a:r>
            <a:endParaRPr lang="en-US" sz="1180" dirty="0"/>
          </a:p>
          <a:p>
            <a:pPr indent="0" marL="0">
              <a:lnSpc>
                <a:spcPct val="108000"/>
              </a:lnSpc>
              <a:spcAft>
                <a:spcPts val="400"/>
              </a:spcAft>
              <a:buNone/>
            </a:pPr>
            <a:r>
              <a:rPr lang="en-US" sz="1180" b="1" dirty="0">
                <a:solidFill>
                  <a:srgbClr val="02C39A"/>
                </a:solidFill>
                <a:latin typeface="Calibri" pitchFamily="34" charset="0"/>
                <a:ea typeface="Calibri" pitchFamily="34" charset="-122"/>
                <a:cs typeface="Calibri" pitchFamily="34" charset="-120"/>
              </a:rPr>
              <a:t>Phòng:  </a:t>
            </a:r>
            <a:pPr indent="0" marL="0">
              <a:lnSpc>
                <a:spcPct val="108000"/>
              </a:lnSpc>
              <a:spcAft>
                <a:spcPts val="400"/>
              </a:spcAft>
              <a:buNone/>
            </a:pPr>
            <a:r>
              <a:rPr lang="en-US" sz="1180" dirty="0">
                <a:solidFill>
                  <a:srgbClr val="5A6178"/>
                </a:solidFill>
                <a:latin typeface="Calibri" pitchFamily="34" charset="0"/>
                <a:ea typeface="Calibri" pitchFamily="34" charset="-122"/>
                <a:cs typeface="Calibri" pitchFamily="34" charset="-120"/>
              </a:rPr>
              <a:t>Kiểm tra ngược bằng hình + đọc kỹ danh sách chỗ mờ.</a:t>
            </a:r>
            <a:endParaRPr lang="en-US" sz="1180" dirty="0"/>
          </a:p>
        </p:txBody>
      </p:sp>
      <p:sp>
        <p:nvSpPr>
          <p:cNvPr id="9" name="Shape 6"/>
          <p:cNvSpPr/>
          <p:nvPr/>
        </p:nvSpPr>
        <p:spPr>
          <a:xfrm>
            <a:off x="6199632" y="1600200"/>
            <a:ext cx="5440680" cy="2148840"/>
          </a:xfrm>
          <a:prstGeom prst="roundRect">
            <a:avLst>
              <a:gd name="adj" fmla="val 3830"/>
            </a:avLst>
          </a:prstGeom>
          <a:solidFill>
            <a:srgbClr val="EEF3FB"/>
          </a:solidFill>
          <a:ln/>
          <a:effectLst>
            <a:outerShdw sx="100000" sy="100000" kx="0" ky="0" algn="bl" rotWithShape="0" blurRad="88900" dist="25400" dir="5400000">
              <a:srgbClr val="1E2761">
                <a:alpha val="22000"/>
              </a:srgbClr>
            </a:outerShdw>
          </a:effectLst>
        </p:spPr>
      </p:sp>
      <p:sp>
        <p:nvSpPr>
          <p:cNvPr id="10" name="Shape 7"/>
          <p:cNvSpPr/>
          <p:nvPr/>
        </p:nvSpPr>
        <p:spPr>
          <a:xfrm>
            <a:off x="6455664" y="1856232"/>
            <a:ext cx="512064" cy="512064"/>
          </a:xfrm>
          <a:prstGeom prst="ellipse">
            <a:avLst/>
          </a:prstGeom>
          <a:solidFill>
            <a:srgbClr val="1E2761"/>
          </a:solidFill>
          <a:ln/>
        </p:spPr>
      </p:sp>
      <p:pic>
        <p:nvPicPr>
          <p:cNvPr id="11" name="Image 1" descr="preencoded.png">    </p:cNvPr>
          <p:cNvPicPr>
            <a:picLocks noChangeAspect="1"/>
          </p:cNvPicPr>
          <p:nvPr/>
        </p:nvPicPr>
        <p:blipFill>
          <a:blip r:embed="rId2"/>
          <a:stretch>
            <a:fillRect/>
          </a:stretch>
        </p:blipFill>
        <p:spPr>
          <a:xfrm>
            <a:off x="6588801" y="1989369"/>
            <a:ext cx="245791" cy="245791"/>
          </a:xfrm>
          <a:prstGeom prst="rect">
            <a:avLst/>
          </a:prstGeom>
        </p:spPr>
      </p:pic>
      <p:sp>
        <p:nvSpPr>
          <p:cNvPr id="12" name="Text 8"/>
          <p:cNvSpPr/>
          <p:nvPr/>
        </p:nvSpPr>
        <p:spPr>
          <a:xfrm>
            <a:off x="7159752" y="1837944"/>
            <a:ext cx="4251960" cy="411480"/>
          </a:xfrm>
          <a:prstGeom prst="rect">
            <a:avLst/>
          </a:prstGeom>
          <a:noFill/>
          <a:ln/>
        </p:spPr>
        <p:txBody>
          <a:bodyPr wrap="square" lIns="0" tIns="0" rIns="0" bIns="0"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Sai ngầm trông chuẩn</a:t>
            </a:r>
            <a:endParaRPr lang="en-US" sz="1550" dirty="0"/>
          </a:p>
        </p:txBody>
      </p:sp>
      <p:sp>
        <p:nvSpPr>
          <p:cNvPr id="13" name="Text 9"/>
          <p:cNvSpPr/>
          <p:nvPr/>
        </p:nvSpPr>
        <p:spPr>
          <a:xfrm>
            <a:off x="7159752" y="2276856"/>
            <a:ext cx="4206240" cy="1280160"/>
          </a:xfrm>
          <a:prstGeom prst="rect">
            <a:avLst/>
          </a:prstGeom>
          <a:noFill/>
          <a:ln/>
        </p:spPr>
        <p:txBody>
          <a:bodyPr wrap="square" lIns="0" tIns="0" rIns="0" bIns="0" rtlCol="0" anchor="t"/>
          <a:lstStyle/>
          <a:p>
            <a:pPr indent="0" marL="0">
              <a:lnSpc>
                <a:spcPct val="108000"/>
              </a:lnSpc>
              <a:spcAft>
                <a:spcPts val="400"/>
              </a:spcAft>
              <a:buNone/>
            </a:pPr>
            <a:r>
              <a:rPr lang="en-US" sz="1180" dirty="0">
                <a:solidFill>
                  <a:srgbClr val="22263B"/>
                </a:solidFill>
                <a:latin typeface="Calibri" pitchFamily="34" charset="0"/>
                <a:ea typeface="Calibri" pitchFamily="34" charset="-122"/>
                <a:cs typeface="Calibri" pitchFamily="34" charset="-120"/>
              </a:rPr>
              <a:t>Kho tài liệu chỉnh chu nhưng sai ngầm nguy hiểm hơn ghi chép rời rạc — vì nó tạo được lòng tin.</a:t>
            </a:r>
            <a:endParaRPr lang="en-US" sz="1180" dirty="0"/>
          </a:p>
          <a:p>
            <a:pPr indent="0" marL="0">
              <a:lnSpc>
                <a:spcPct val="108000"/>
              </a:lnSpc>
              <a:spcAft>
                <a:spcPts val="400"/>
              </a:spcAft>
              <a:buNone/>
            </a:pPr>
            <a:r>
              <a:rPr lang="en-US" sz="1180" b="1" dirty="0">
                <a:solidFill>
                  <a:srgbClr val="02C39A"/>
                </a:solidFill>
                <a:latin typeface="Calibri" pitchFamily="34" charset="0"/>
                <a:ea typeface="Calibri" pitchFamily="34" charset="-122"/>
                <a:cs typeface="Calibri" pitchFamily="34" charset="-120"/>
              </a:rPr>
              <a:t>Phòng:  </a:t>
            </a:r>
            <a:pPr indent="0" marL="0">
              <a:lnSpc>
                <a:spcPct val="108000"/>
              </a:lnSpc>
              <a:spcAft>
                <a:spcPts val="400"/>
              </a:spcAft>
              <a:buNone/>
            </a:pPr>
            <a:r>
              <a:rPr lang="en-US" sz="1180" dirty="0">
                <a:solidFill>
                  <a:srgbClr val="5A6178"/>
                </a:solidFill>
                <a:latin typeface="Calibri" pitchFamily="34" charset="0"/>
                <a:ea typeface="Calibri" pitchFamily="34" charset="-122"/>
                <a:cs typeface="Calibri" pitchFamily="34" charset="-120"/>
              </a:rPr>
              <a:t>Diff nhỏ + changelog; thỉnh thoảng bắt AI tự rà mâu thuẫn với nguyên tắc gốc.</a:t>
            </a:r>
            <a:endParaRPr lang="en-US" sz="1180" dirty="0"/>
          </a:p>
        </p:txBody>
      </p:sp>
      <p:sp>
        <p:nvSpPr>
          <p:cNvPr id="14" name="Shape 10"/>
          <p:cNvSpPr/>
          <p:nvPr/>
        </p:nvSpPr>
        <p:spPr>
          <a:xfrm>
            <a:off x="548640" y="3931920"/>
            <a:ext cx="5440680" cy="2148840"/>
          </a:xfrm>
          <a:prstGeom prst="roundRect">
            <a:avLst>
              <a:gd name="adj" fmla="val 3830"/>
            </a:avLst>
          </a:prstGeom>
          <a:solidFill>
            <a:srgbClr val="EEF3FB"/>
          </a:solidFill>
          <a:ln/>
          <a:effectLst>
            <a:outerShdw sx="100000" sy="100000" kx="0" ky="0" algn="bl" rotWithShape="0" blurRad="88900" dist="25400" dir="5400000">
              <a:srgbClr val="1E2761">
                <a:alpha val="22000"/>
              </a:srgbClr>
            </a:outerShdw>
          </a:effectLst>
        </p:spPr>
      </p:sp>
      <p:sp>
        <p:nvSpPr>
          <p:cNvPr id="15" name="Shape 11"/>
          <p:cNvSpPr/>
          <p:nvPr/>
        </p:nvSpPr>
        <p:spPr>
          <a:xfrm>
            <a:off x="804672" y="4187952"/>
            <a:ext cx="512064" cy="512064"/>
          </a:xfrm>
          <a:prstGeom prst="ellipse">
            <a:avLst/>
          </a:prstGeom>
          <a:solidFill>
            <a:srgbClr val="1E2761"/>
          </a:solidFill>
          <a:ln/>
        </p:spPr>
      </p:sp>
      <p:pic>
        <p:nvPicPr>
          <p:cNvPr id="16" name="Image 2" descr="preencoded.png">    </p:cNvPr>
          <p:cNvPicPr>
            <a:picLocks noChangeAspect="1"/>
          </p:cNvPicPr>
          <p:nvPr/>
        </p:nvPicPr>
        <p:blipFill>
          <a:blip r:embed="rId3"/>
          <a:stretch>
            <a:fillRect/>
          </a:stretch>
        </p:blipFill>
        <p:spPr>
          <a:xfrm>
            <a:off x="937809" y="4321089"/>
            <a:ext cx="245791" cy="245791"/>
          </a:xfrm>
          <a:prstGeom prst="rect">
            <a:avLst/>
          </a:prstGeom>
        </p:spPr>
      </p:pic>
      <p:sp>
        <p:nvSpPr>
          <p:cNvPr id="17" name="Text 12"/>
          <p:cNvSpPr/>
          <p:nvPr/>
        </p:nvSpPr>
        <p:spPr>
          <a:xfrm>
            <a:off x="1508760" y="4169664"/>
            <a:ext cx="4251960" cy="411480"/>
          </a:xfrm>
          <a:prstGeom prst="rect">
            <a:avLst/>
          </a:prstGeom>
          <a:noFill/>
          <a:ln/>
        </p:spPr>
        <p:txBody>
          <a:bodyPr wrap="square" lIns="0" tIns="0" rIns="0" bIns="0"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Phình chữ, không thêm đúng</a:t>
            </a:r>
            <a:endParaRPr lang="en-US" sz="1550" dirty="0"/>
          </a:p>
        </p:txBody>
      </p:sp>
      <p:sp>
        <p:nvSpPr>
          <p:cNvPr id="18" name="Text 13"/>
          <p:cNvSpPr/>
          <p:nvPr/>
        </p:nvSpPr>
        <p:spPr>
          <a:xfrm>
            <a:off x="1508760" y="4608576"/>
            <a:ext cx="4206240" cy="1280160"/>
          </a:xfrm>
          <a:prstGeom prst="rect">
            <a:avLst/>
          </a:prstGeom>
          <a:noFill/>
          <a:ln/>
        </p:spPr>
        <p:txBody>
          <a:bodyPr wrap="square" lIns="0" tIns="0" rIns="0" bIns="0" rtlCol="0" anchor="t"/>
          <a:lstStyle/>
          <a:p>
            <a:pPr indent="0" marL="0">
              <a:lnSpc>
                <a:spcPct val="108000"/>
              </a:lnSpc>
              <a:spcAft>
                <a:spcPts val="400"/>
              </a:spcAft>
              <a:buNone/>
            </a:pPr>
            <a:r>
              <a:rPr lang="en-US" sz="1180" dirty="0">
                <a:solidFill>
                  <a:srgbClr val="22263B"/>
                </a:solidFill>
                <a:latin typeface="Calibri" pitchFamily="34" charset="0"/>
                <a:ea typeface="Calibri" pitchFamily="34" charset="-122"/>
                <a:cs typeface="Calibri" pitchFamily="34" charset="-120"/>
              </a:rPr>
              <a:t>Vài quyết định quan trọng bị chôn trong văn mẫu hợp lý do AI sinh ra.</a:t>
            </a:r>
            <a:endParaRPr lang="en-US" sz="1180" dirty="0"/>
          </a:p>
          <a:p>
            <a:pPr indent="0" marL="0">
              <a:lnSpc>
                <a:spcPct val="108000"/>
              </a:lnSpc>
              <a:spcAft>
                <a:spcPts val="400"/>
              </a:spcAft>
              <a:buNone/>
            </a:pPr>
            <a:r>
              <a:rPr lang="en-US" sz="1180" b="1" dirty="0">
                <a:solidFill>
                  <a:srgbClr val="02C39A"/>
                </a:solidFill>
                <a:latin typeface="Calibri" pitchFamily="34" charset="0"/>
                <a:ea typeface="Calibri" pitchFamily="34" charset="-122"/>
                <a:cs typeface="Calibri" pitchFamily="34" charset="-120"/>
              </a:rPr>
              <a:t>Phòng:  </a:t>
            </a:r>
            <a:pPr indent="0" marL="0">
              <a:lnSpc>
                <a:spcPct val="108000"/>
              </a:lnSpc>
              <a:spcAft>
                <a:spcPts val="400"/>
              </a:spcAft>
              <a:buNone/>
            </a:pPr>
            <a:r>
              <a:rPr lang="en-US" sz="1180" dirty="0">
                <a:solidFill>
                  <a:srgbClr val="5A6178"/>
                </a:solidFill>
                <a:latin typeface="Calibri" pitchFamily="34" charset="0"/>
                <a:ea typeface="Calibri" pitchFamily="34" charset="-122"/>
                <a:cs typeface="Calibri" pitchFamily="34" charset="-120"/>
              </a:rPr>
              <a:t>Thiên vị ghi quyết định / lý do / ràng buộc thay vì văn xuôi đầy đủ.</a:t>
            </a:r>
            <a:endParaRPr lang="en-US" sz="1180" dirty="0"/>
          </a:p>
        </p:txBody>
      </p:sp>
      <p:sp>
        <p:nvSpPr>
          <p:cNvPr id="19" name="Shape 14"/>
          <p:cNvSpPr/>
          <p:nvPr/>
        </p:nvSpPr>
        <p:spPr>
          <a:xfrm>
            <a:off x="6199632" y="3931920"/>
            <a:ext cx="5440680" cy="2148840"/>
          </a:xfrm>
          <a:prstGeom prst="roundRect">
            <a:avLst>
              <a:gd name="adj" fmla="val 3830"/>
            </a:avLst>
          </a:prstGeom>
          <a:solidFill>
            <a:srgbClr val="EEF3FB"/>
          </a:solidFill>
          <a:ln/>
          <a:effectLst>
            <a:outerShdw sx="100000" sy="100000" kx="0" ky="0" algn="bl" rotWithShape="0" blurRad="88900" dist="25400" dir="5400000">
              <a:srgbClr val="1E2761">
                <a:alpha val="22000"/>
              </a:srgbClr>
            </a:outerShdw>
          </a:effectLst>
        </p:spPr>
      </p:sp>
      <p:sp>
        <p:nvSpPr>
          <p:cNvPr id="20" name="Shape 15"/>
          <p:cNvSpPr/>
          <p:nvPr/>
        </p:nvSpPr>
        <p:spPr>
          <a:xfrm>
            <a:off x="6455664" y="4187952"/>
            <a:ext cx="512064" cy="512064"/>
          </a:xfrm>
          <a:prstGeom prst="ellipse">
            <a:avLst/>
          </a:prstGeom>
          <a:solidFill>
            <a:srgbClr val="1E2761"/>
          </a:solidFill>
          <a:ln/>
        </p:spPr>
      </p:sp>
      <p:pic>
        <p:nvPicPr>
          <p:cNvPr id="21" name="Image 3" descr="preencoded.png">    </p:cNvPr>
          <p:cNvPicPr>
            <a:picLocks noChangeAspect="1"/>
          </p:cNvPicPr>
          <p:nvPr/>
        </p:nvPicPr>
        <p:blipFill>
          <a:blip r:embed="rId4"/>
          <a:stretch>
            <a:fillRect/>
          </a:stretch>
        </p:blipFill>
        <p:spPr>
          <a:xfrm>
            <a:off x="6588801" y="4321089"/>
            <a:ext cx="245791" cy="245791"/>
          </a:xfrm>
          <a:prstGeom prst="rect">
            <a:avLst/>
          </a:prstGeom>
        </p:spPr>
      </p:pic>
      <p:sp>
        <p:nvSpPr>
          <p:cNvPr id="22" name="Text 16"/>
          <p:cNvSpPr/>
          <p:nvPr/>
        </p:nvSpPr>
        <p:spPr>
          <a:xfrm>
            <a:off x="7159752" y="4169664"/>
            <a:ext cx="4251960" cy="411480"/>
          </a:xfrm>
          <a:prstGeom prst="rect">
            <a:avLst/>
          </a:prstGeom>
          <a:noFill/>
          <a:ln/>
        </p:spPr>
        <p:txBody>
          <a:bodyPr wrap="square" lIns="0" tIns="0" rIns="0" bIns="0"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Quy ước chết vì không có thời điểm</a:t>
            </a:r>
            <a:endParaRPr lang="en-US" sz="1550" dirty="0"/>
          </a:p>
        </p:txBody>
      </p:sp>
      <p:sp>
        <p:nvSpPr>
          <p:cNvPr id="23" name="Text 17"/>
          <p:cNvSpPr/>
          <p:nvPr/>
        </p:nvSpPr>
        <p:spPr>
          <a:xfrm>
            <a:off x="7159752" y="4608576"/>
            <a:ext cx="4206240" cy="1280160"/>
          </a:xfrm>
          <a:prstGeom prst="rect">
            <a:avLst/>
          </a:prstGeom>
          <a:noFill/>
          <a:ln/>
        </p:spPr>
        <p:txBody>
          <a:bodyPr wrap="square" lIns="0" tIns="0" rIns="0" bIns="0" rtlCol="0" anchor="t"/>
          <a:lstStyle/>
          <a:p>
            <a:pPr indent="0" marL="0">
              <a:lnSpc>
                <a:spcPct val="108000"/>
              </a:lnSpc>
              <a:spcAft>
                <a:spcPts val="400"/>
              </a:spcAft>
              <a:buNone/>
            </a:pPr>
            <a:r>
              <a:rPr lang="en-US" sz="1180" dirty="0">
                <a:solidFill>
                  <a:srgbClr val="22263B"/>
                </a:solidFill>
                <a:latin typeface="Calibri" pitchFamily="34" charset="0"/>
                <a:ea typeface="Calibri" pitchFamily="34" charset="-122"/>
                <a:cs typeface="Calibri" pitchFamily="34" charset="-120"/>
              </a:rPr>
              <a:t>Ai cũng hiểu nhưng không ai làm — vì không có “lúc nào” được định nghĩa.</a:t>
            </a:r>
            <a:endParaRPr lang="en-US" sz="1180" dirty="0"/>
          </a:p>
          <a:p>
            <a:pPr indent="0" marL="0">
              <a:lnSpc>
                <a:spcPct val="108000"/>
              </a:lnSpc>
              <a:spcAft>
                <a:spcPts val="400"/>
              </a:spcAft>
              <a:buNone/>
            </a:pPr>
            <a:r>
              <a:rPr lang="en-US" sz="1180" b="1" dirty="0">
                <a:solidFill>
                  <a:srgbClr val="02C39A"/>
                </a:solidFill>
                <a:latin typeface="Calibri" pitchFamily="34" charset="0"/>
                <a:ea typeface="Calibri" pitchFamily="34" charset="-122"/>
                <a:cs typeface="Calibri" pitchFamily="34" charset="-120"/>
              </a:rPr>
              <a:t>Phòng:  </a:t>
            </a:r>
            <a:pPr indent="0" marL="0">
              <a:lnSpc>
                <a:spcPct val="108000"/>
              </a:lnSpc>
              <a:spcAft>
                <a:spcPts val="400"/>
              </a:spcAft>
              <a:buNone/>
            </a:pPr>
            <a:r>
              <a:rPr lang="en-US" sz="1180" dirty="0">
                <a:solidFill>
                  <a:srgbClr val="5A6178"/>
                </a:solidFill>
                <a:latin typeface="Calibri" pitchFamily="34" charset="0"/>
                <a:ea typeface="Calibri" pitchFamily="34" charset="-122"/>
                <a:cs typeface="Calibri" pitchFamily="34" charset="-120"/>
              </a:rPr>
              <a:t>Mọi quy tắc gắn với thời điểm cụ thể: sau buổi họp, cuối phiên, trước khi commit.</a:t>
            </a:r>
            <a:endParaRPr lang="en-US" sz="11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66928" y="347472"/>
            <a:ext cx="10972800" cy="292608"/>
          </a:xfrm>
          <a:prstGeom prst="rect">
            <a:avLst/>
          </a:prstGeom>
          <a:noFill/>
          <a:ln/>
        </p:spPr>
        <p:txBody>
          <a:bodyPr wrap="square" lIns="0" tIns="0" rIns="0" bIns="0" rtlCol="0" anchor="ctr"/>
          <a:lstStyle/>
          <a:p>
            <a:pPr indent="0" marL="0">
              <a:buNone/>
            </a:pPr>
            <a:r>
              <a:rPr lang="en-US" sz="1200" b="1" spc="300" kern="0" dirty="0">
                <a:solidFill>
                  <a:srgbClr val="02C39A"/>
                </a:solidFill>
                <a:latin typeface="Calibri" pitchFamily="34" charset="0"/>
                <a:ea typeface="Calibri" pitchFamily="34" charset="-122"/>
                <a:cs typeface="Calibri" pitchFamily="34" charset="-120"/>
              </a:rPr>
              <a:t>TIẾP THEO</a:t>
            </a:r>
            <a:endParaRPr lang="en-US" sz="1200" dirty="0"/>
          </a:p>
        </p:txBody>
      </p:sp>
      <p:sp>
        <p:nvSpPr>
          <p:cNvPr id="3" name="Text 1"/>
          <p:cNvSpPr/>
          <p:nvPr/>
        </p:nvSpPr>
        <p:spPr>
          <a:xfrm>
            <a:off x="548640" y="621792"/>
            <a:ext cx="1106424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Bắt đầu từ đâu?</a:t>
            </a:r>
            <a:endParaRPr lang="en-US" sz="3000" dirty="0"/>
          </a:p>
        </p:txBody>
      </p:sp>
      <p:sp>
        <p:nvSpPr>
          <p:cNvPr id="4" name="Shape 2"/>
          <p:cNvSpPr/>
          <p:nvPr/>
        </p:nvSpPr>
        <p:spPr>
          <a:xfrm>
            <a:off x="658368" y="1801368"/>
            <a:ext cx="457200" cy="457200"/>
          </a:xfrm>
          <a:prstGeom prst="ellipse">
            <a:avLst/>
          </a:prstGeom>
          <a:solidFill>
            <a:srgbClr val="02C39A"/>
          </a:solidFill>
          <a:ln/>
        </p:spPr>
      </p:sp>
      <p:sp>
        <p:nvSpPr>
          <p:cNvPr id="5" name="Text 3"/>
          <p:cNvSpPr/>
          <p:nvPr/>
        </p:nvSpPr>
        <p:spPr>
          <a:xfrm>
            <a:off x="658368" y="1783080"/>
            <a:ext cx="457200" cy="457200"/>
          </a:xfrm>
          <a:prstGeom prst="rect">
            <a:avLst/>
          </a:prstGeom>
          <a:noFill/>
          <a:ln/>
        </p:spPr>
        <p:txBody>
          <a:bodyPr wrap="square" lIns="0" tIns="0" rIns="0" bIns="0"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325880" y="1783080"/>
            <a:ext cx="5577840" cy="822960"/>
          </a:xfrm>
          <a:prstGeom prst="rect">
            <a:avLst/>
          </a:prstGeom>
          <a:noFill/>
          <a:ln/>
        </p:spPr>
        <p:txBody>
          <a:bodyPr wrap="square" lIns="0" tIns="0" rIns="0" bIns="0" rtlCol="0" anchor="t"/>
          <a:lstStyle/>
          <a:p>
            <a:pPr indent="0" marL="0">
              <a:lnSpc>
                <a:spcPct val="110000"/>
              </a:lnSpc>
              <a:buNone/>
            </a:pPr>
            <a:r>
              <a:rPr lang="en-US" sz="1500" dirty="0">
                <a:solidFill>
                  <a:srgbClr val="FFFFFF"/>
                </a:solidFill>
                <a:latin typeface="Calibri" pitchFamily="34" charset="0"/>
                <a:ea typeface="Calibri" pitchFamily="34" charset="-122"/>
                <a:cs typeface="Calibri" pitchFamily="34" charset="-120"/>
              </a:rPr>
              <a:t>Bản rút gọn một trang cho team — từ 5 quy tắc</a:t>
            </a:r>
            <a:endParaRPr lang="en-US" sz="1500" dirty="0"/>
          </a:p>
        </p:txBody>
      </p:sp>
      <p:sp>
        <p:nvSpPr>
          <p:cNvPr id="7" name="Shape 5"/>
          <p:cNvSpPr/>
          <p:nvPr/>
        </p:nvSpPr>
        <p:spPr>
          <a:xfrm>
            <a:off x="658368" y="2734056"/>
            <a:ext cx="457200" cy="457200"/>
          </a:xfrm>
          <a:prstGeom prst="ellipse">
            <a:avLst/>
          </a:prstGeom>
          <a:solidFill>
            <a:srgbClr val="02C39A"/>
          </a:solidFill>
          <a:ln/>
        </p:spPr>
      </p:sp>
      <p:sp>
        <p:nvSpPr>
          <p:cNvPr id="8" name="Text 6"/>
          <p:cNvSpPr/>
          <p:nvPr/>
        </p:nvSpPr>
        <p:spPr>
          <a:xfrm>
            <a:off x="658368" y="2715768"/>
            <a:ext cx="457200" cy="457200"/>
          </a:xfrm>
          <a:prstGeom prst="rect">
            <a:avLst/>
          </a:prstGeom>
          <a:noFill/>
          <a:ln/>
        </p:spPr>
        <p:txBody>
          <a:bodyPr wrap="square" lIns="0" tIns="0" rIns="0" bIns="0"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2</a:t>
            </a:r>
            <a:endParaRPr lang="en-US" sz="1800" dirty="0"/>
          </a:p>
        </p:txBody>
      </p:sp>
      <p:sp>
        <p:nvSpPr>
          <p:cNvPr id="9" name="Text 7"/>
          <p:cNvSpPr/>
          <p:nvPr/>
        </p:nvSpPr>
        <p:spPr>
          <a:xfrm>
            <a:off x="1325880" y="2715768"/>
            <a:ext cx="5577840" cy="822960"/>
          </a:xfrm>
          <a:prstGeom prst="rect">
            <a:avLst/>
          </a:prstGeom>
          <a:noFill/>
          <a:ln/>
        </p:spPr>
        <p:txBody>
          <a:bodyPr wrap="square" lIns="0" tIns="0" rIns="0" bIns="0" rtlCol="0" anchor="t"/>
          <a:lstStyle/>
          <a:p>
            <a:pPr indent="0" marL="0">
              <a:lnSpc>
                <a:spcPct val="110000"/>
              </a:lnSpc>
              <a:buNone/>
            </a:pPr>
            <a:r>
              <a:rPr lang="en-US" sz="1500" dirty="0">
                <a:solidFill>
                  <a:srgbClr val="FFFFFF"/>
                </a:solidFill>
                <a:latin typeface="Calibri" pitchFamily="34" charset="0"/>
                <a:ea typeface="Calibri" pitchFamily="34" charset="-122"/>
                <a:cs typeface="Calibri" pitchFamily="34" charset="-120"/>
              </a:rPr>
              <a:t>AGENTS.md mẫu — đặt được ngay vào repo dự án</a:t>
            </a:r>
            <a:endParaRPr lang="en-US" sz="1500" dirty="0"/>
          </a:p>
        </p:txBody>
      </p:sp>
      <p:sp>
        <p:nvSpPr>
          <p:cNvPr id="10" name="Shape 8"/>
          <p:cNvSpPr/>
          <p:nvPr/>
        </p:nvSpPr>
        <p:spPr>
          <a:xfrm>
            <a:off x="658368" y="3666744"/>
            <a:ext cx="457200" cy="457200"/>
          </a:xfrm>
          <a:prstGeom prst="ellipse">
            <a:avLst/>
          </a:prstGeom>
          <a:solidFill>
            <a:srgbClr val="02C39A"/>
          </a:solidFill>
          <a:ln/>
        </p:spPr>
      </p:sp>
      <p:sp>
        <p:nvSpPr>
          <p:cNvPr id="11" name="Text 9"/>
          <p:cNvSpPr/>
          <p:nvPr/>
        </p:nvSpPr>
        <p:spPr>
          <a:xfrm>
            <a:off x="658368" y="3648456"/>
            <a:ext cx="457200" cy="457200"/>
          </a:xfrm>
          <a:prstGeom prst="rect">
            <a:avLst/>
          </a:prstGeom>
          <a:noFill/>
          <a:ln/>
        </p:spPr>
        <p:txBody>
          <a:bodyPr wrap="square" lIns="0" tIns="0" rIns="0" bIns="0"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3</a:t>
            </a:r>
            <a:endParaRPr lang="en-US" sz="1800" dirty="0"/>
          </a:p>
        </p:txBody>
      </p:sp>
      <p:sp>
        <p:nvSpPr>
          <p:cNvPr id="12" name="Text 10"/>
          <p:cNvSpPr/>
          <p:nvPr/>
        </p:nvSpPr>
        <p:spPr>
          <a:xfrm>
            <a:off x="1325880" y="3648456"/>
            <a:ext cx="5577840" cy="822960"/>
          </a:xfrm>
          <a:prstGeom prst="rect">
            <a:avLst/>
          </a:prstGeom>
          <a:noFill/>
          <a:ln/>
        </p:spPr>
        <p:txBody>
          <a:bodyPr wrap="square" lIns="0" tIns="0" rIns="0" bIns="0" rtlCol="0" anchor="t"/>
          <a:lstStyle/>
          <a:p>
            <a:pPr indent="0" marL="0">
              <a:lnSpc>
                <a:spcPct val="110000"/>
              </a:lnSpc>
              <a:buNone/>
            </a:pPr>
            <a:r>
              <a:rPr lang="en-US" sz="1500" dirty="0">
                <a:solidFill>
                  <a:srgbClr val="FFFFFF"/>
                </a:solidFill>
                <a:latin typeface="Calibri" pitchFamily="34" charset="0"/>
                <a:ea typeface="Calibri" pitchFamily="34" charset="-122"/>
                <a:cs typeface="Calibri" pitchFamily="34" charset="-120"/>
              </a:rPr>
              <a:t>Template: file spec + dòng status, ADR gọn, danh sách chỗ mờ</a:t>
            </a:r>
            <a:endParaRPr lang="en-US" sz="1500" dirty="0"/>
          </a:p>
        </p:txBody>
      </p:sp>
      <p:sp>
        <p:nvSpPr>
          <p:cNvPr id="13" name="Shape 11"/>
          <p:cNvSpPr/>
          <p:nvPr/>
        </p:nvSpPr>
        <p:spPr>
          <a:xfrm>
            <a:off x="658368" y="4599432"/>
            <a:ext cx="457200" cy="457200"/>
          </a:xfrm>
          <a:prstGeom prst="ellipse">
            <a:avLst/>
          </a:prstGeom>
          <a:solidFill>
            <a:srgbClr val="02C39A"/>
          </a:solidFill>
          <a:ln/>
        </p:spPr>
      </p:sp>
      <p:sp>
        <p:nvSpPr>
          <p:cNvPr id="14" name="Text 12"/>
          <p:cNvSpPr/>
          <p:nvPr/>
        </p:nvSpPr>
        <p:spPr>
          <a:xfrm>
            <a:off x="658368" y="4581144"/>
            <a:ext cx="457200" cy="457200"/>
          </a:xfrm>
          <a:prstGeom prst="rect">
            <a:avLst/>
          </a:prstGeom>
          <a:noFill/>
          <a:ln/>
        </p:spPr>
        <p:txBody>
          <a:bodyPr wrap="square" lIns="0" tIns="0" rIns="0" bIns="0"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4</a:t>
            </a:r>
            <a:endParaRPr lang="en-US" sz="1800" dirty="0"/>
          </a:p>
        </p:txBody>
      </p:sp>
      <p:sp>
        <p:nvSpPr>
          <p:cNvPr id="15" name="Text 13"/>
          <p:cNvSpPr/>
          <p:nvPr/>
        </p:nvSpPr>
        <p:spPr>
          <a:xfrm>
            <a:off x="1325880" y="4581144"/>
            <a:ext cx="5577840" cy="822960"/>
          </a:xfrm>
          <a:prstGeom prst="rect">
            <a:avLst/>
          </a:prstGeom>
          <a:noFill/>
          <a:ln/>
        </p:spPr>
        <p:txBody>
          <a:bodyPr wrap="square" lIns="0" tIns="0" rIns="0" bIns="0" rtlCol="0" anchor="t"/>
          <a:lstStyle/>
          <a:p>
            <a:pPr indent="0" marL="0">
              <a:lnSpc>
                <a:spcPct val="110000"/>
              </a:lnSpc>
              <a:buNone/>
            </a:pPr>
            <a:r>
              <a:rPr lang="en-US" sz="1500" dirty="0">
                <a:solidFill>
                  <a:srgbClr val="FFFFFF"/>
                </a:solidFill>
                <a:latin typeface="Calibri" pitchFamily="34" charset="0"/>
                <a:ea typeface="Calibri" pitchFamily="34" charset="-122"/>
                <a:cs typeface="Calibri" pitchFamily="34" charset="-120"/>
              </a:rPr>
              <a:t>Áp dụng thử một dự án thật → ghi nhận chỗ vướng → cập nhật quy ước</a:t>
            </a:r>
            <a:endParaRPr lang="en-US" sz="1500" dirty="0"/>
          </a:p>
        </p:txBody>
      </p:sp>
      <p:sp>
        <p:nvSpPr>
          <p:cNvPr id="16" name="Shape 14"/>
          <p:cNvSpPr/>
          <p:nvPr/>
        </p:nvSpPr>
        <p:spPr>
          <a:xfrm>
            <a:off x="7406640" y="1920240"/>
            <a:ext cx="4206240" cy="3108960"/>
          </a:xfrm>
          <a:prstGeom prst="roundRect">
            <a:avLst>
              <a:gd name="adj" fmla="val 2647"/>
            </a:avLst>
          </a:prstGeom>
          <a:solidFill>
            <a:srgbClr val="27336F"/>
          </a:solidFill>
          <a:ln/>
          <a:effectLst>
            <a:outerShdw sx="100000" sy="100000" kx="0" ky="0" algn="bl" rotWithShape="0" blurRad="88900" dist="25400" dir="5400000">
              <a:srgbClr val="1E2761">
                <a:alpha val="22000"/>
              </a:srgbClr>
            </a:outerShdw>
          </a:effectLst>
        </p:spPr>
      </p:sp>
      <p:sp>
        <p:nvSpPr>
          <p:cNvPr id="17" name="Text 15"/>
          <p:cNvSpPr/>
          <p:nvPr/>
        </p:nvSpPr>
        <p:spPr>
          <a:xfrm>
            <a:off x="7726680" y="2148840"/>
            <a:ext cx="3611880" cy="2651760"/>
          </a:xfrm>
          <a:prstGeom prst="rect">
            <a:avLst/>
          </a:prstGeom>
          <a:noFill/>
          <a:ln/>
        </p:spPr>
        <p:txBody>
          <a:bodyPr wrap="square" lIns="0" tIns="0" rIns="0" bIns="0" rtlCol="0" anchor="ctr"/>
          <a:lstStyle/>
          <a:p>
            <a:pPr indent="0" marL="0">
              <a:lnSpc>
                <a:spcPct val="135000"/>
              </a:lnSpc>
              <a:buNone/>
            </a:pPr>
            <a:r>
              <a:rPr lang="en-US" sz="2800" b="1" dirty="0">
                <a:solidFill>
                  <a:srgbClr val="FFFFFF"/>
                </a:solidFill>
                <a:latin typeface="Cambria" pitchFamily="34" charset="0"/>
                <a:ea typeface="Cambria" pitchFamily="34" charset="-122"/>
                <a:cs typeface="Cambria" pitchFamily="34" charset="-120"/>
              </a:rPr>
              <a:t>Con người quyết định.</a:t>
            </a:r>
            <a:endParaRPr lang="en-US" sz="2800" dirty="0"/>
          </a:p>
          <a:p>
            <a:pPr indent="0" marL="0">
              <a:lnSpc>
                <a:spcPct val="135000"/>
              </a:lnSpc>
              <a:buNone/>
            </a:pPr>
            <a:r>
              <a:rPr lang="en-US" sz="2800" b="1" dirty="0">
                <a:solidFill>
                  <a:srgbClr val="02C39A"/>
                </a:solidFill>
                <a:latin typeface="Cambria" pitchFamily="34" charset="0"/>
                <a:ea typeface="Cambria" pitchFamily="34" charset="-122"/>
                <a:cs typeface="Cambria" pitchFamily="34" charset="-120"/>
              </a:rPr>
              <a:t>AI ghi chép.</a:t>
            </a:r>
            <a:endParaRPr lang="en-US" sz="2800" dirty="0"/>
          </a:p>
          <a:p>
            <a:pPr indent="0" marL="0">
              <a:lnSpc>
                <a:spcPct val="135000"/>
              </a:lnSpc>
              <a:buNone/>
            </a:pPr>
            <a:r>
              <a:rPr lang="en-US" sz="2800" b="1" dirty="0">
                <a:solidFill>
                  <a:srgbClr val="CADCFC"/>
                </a:solidFill>
                <a:latin typeface="Cambria" pitchFamily="34" charset="0"/>
                <a:ea typeface="Cambria" pitchFamily="34" charset="-122"/>
                <a:cs typeface="Cambria" pitchFamily="34" charset="-120"/>
              </a:rPr>
              <a:t>Repo ghi nhớ.</a:t>
            </a:r>
            <a:endParaRPr lang="en-US" sz="2800" dirty="0"/>
          </a:p>
        </p:txBody>
      </p:sp>
      <p:sp>
        <p:nvSpPr>
          <p:cNvPr id="18" name="Text 16"/>
          <p:cNvSpPr/>
          <p:nvPr/>
        </p:nvSpPr>
        <p:spPr>
          <a:xfrm>
            <a:off x="658368" y="6126480"/>
            <a:ext cx="1088136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Chi tiết: docs/AiAssistant/AiAssistant.md   ·   Thảo luận và phản biện luôn được hoan nghênh</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2026-09-08T16:37:45Z</dcterms:created>
  <dcterms:modified xsi:type="dcterms:W3CDTF">2026-09-08T16:37:45Z</dcterms:modified>
</cp:coreProperties>
</file>