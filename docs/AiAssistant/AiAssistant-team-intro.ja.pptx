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日の目的：仕様策定の段階で、すぐ適用できるほどシンプルなAIとの働き方を統一すること。完成された開発プロセスではなく、あくまで作業規約。ただし将来チーム共通プロセスの一部になり得る合理性を持たせてい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現場の課題は二つ。第一：AIの使い方がバラバラで、質が揃わない。第二（より重要）：顧客との作業層（Google Drive）で生まれる仕様知識が、開発チームとAIに完全な形で届かない。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優先順位つきの四原則。原則2を強調：「最大限任せる」は依存ではなく分業。人間はAIに代替できない三つの仕事を守る：意思決定・交渉・検証。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現実に逆らわない：Driveは今後も顧客との作業場。ただし役割を分ける — Driveは交渉の場、リポジトリが唯一の真実の源。「誰がペンを持つか」も強調：Driveでは基本SEが手作業（時々AI）、リポジトリでは逆にAIと議論して更新を依頼し、手編集はほぼしない。手編集はAIの帳簿管理（目次・相互リンク）を迂回し、構成が静かにズレるため。下のポイント：出来事単位の変換により「変換後にDriveファイルが修正される」問題も解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最重要スライド — 人間が覚えるべきことはこれで全部。チームが一枚だけ覚えるならこのスライド。それ以外はすべてAI側のルールに集約済み。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具体的なタイミングに紐付いた儀式 — 「いつやるか」が決まっていない規約は死ぬ。ステップ3を強調：AIの流暢な文章は流し読みで承認しがちなので、手作業の突き合わせではなく2つの技法を使う。最後にセキュリティ：会社のAIツール規定に従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gitは内容の履歴は残すが「合意の状態」は表現しない。status一行は安価だがブリッジSEには死活的 — agreed-customerは契約に近い拘束力を持ち、AIもこのファイルの勝手な修正を禁じられている。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要件定義〜基本設計で希少なのは「決定とその理由」であり、文字数ではない。ADR = Architecture Decision Record：取り返しの難しい決定を数行で記録（背景→決定→帰結）；ここでは広義に使い、顧客との仕様決定も含む。図について：Mermaidがデフォルト；標準UML（swimlane付きactivity等、Mermaid非対応）はPlantUML；手描き・レイアウト重視はdrawioで.drawio.svg保存。原則：真実はtextに、図はビュー — 食い違えばtextが勝つ。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読み込みの連鎖：ツールのポインタ（CLAUDE.md / .cursor/rules）→ プロジェクト自身のAGENTS.md → アダプタAGENTS-SystemDesign.md（常時有効の3行動のみ：docs領域へのトリガー、決定の記録提案、agreed-customer安全弁）→ 領域ルールdocs/SystemDesign/AGENTS.md（必要時に読込）。我々のセットは最後の2ファイルで、プロジェクトの既存AGENTS.mdにはリンク1行を追加するだけ — 内容は混ぜず、更新は上書きコピーのみ。規約はリポジトリ内にあるので、共有会に出たかどうかに関係なく全員に自動適用される。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ボトルネックは「書く」から「レビューする」へ移った — それは意図的な交換だが、リスクには名前を付けておく。四つのリスクはいずれも、規約の中に対策が組み込み済み。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締め：この規約は生きたドキュメント — 試して、つまずいた所を直していく。最後の三行がこの働き方全体の精神：人間が決め、AIが書き、リポジトリが憶える。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1554480"/>
            <a:ext cx="2468880" cy="1417320"/>
          </a:xfrm>
          <a:prstGeom prst="roundRect">
            <a:avLst>
              <a:gd name="adj" fmla="val 5161"/>
            </a:avLst>
          </a:prstGeom>
          <a:solidFill>
            <a:srgbClr val="CADCFC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823960" y="2423160"/>
            <a:ext cx="2468880" cy="1417320"/>
          </a:xfrm>
          <a:prstGeom prst="roundRect">
            <a:avLst>
              <a:gd name="adj" fmla="val 5161"/>
            </a:avLst>
          </a:prstGeom>
          <a:solidFill>
            <a:srgbClr val="CADCFC">
              <a:alpha val="5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418320" y="3291840"/>
            <a:ext cx="2468880" cy="1463040"/>
          </a:xfrm>
          <a:prstGeom prst="roundRect">
            <a:avLst>
              <a:gd name="adj" fmla="val 5000"/>
            </a:avLst>
          </a:prstGeom>
          <a:solidFill>
            <a:srgbClr val="02C39A"/>
          </a:solidFill>
          <a:ln/>
          <a:effectLst>
            <a:outerShdw sx="100000" sy="100000" kx="0" ky="0" algn="bl" rotWithShape="0" blurRad="88900" dist="25400" dir="5400000">
              <a:srgbClr val="1E2761">
                <a:alpha val="2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418320" y="345643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docs/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418320" y="391363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markdown · AI-first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178308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02C39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作業規約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2148840"/>
            <a:ext cx="7498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AIと共に進める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システム設計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640080" y="397764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SE / ブリッジSE向け — 要件定義から基本設計まで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40080" y="617220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>
                    <a:alpha val="80000"/>
                  </a:srgbClr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出典: docs/AiAssistant/AiAssistant.md  ·  2026-08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C39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課題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なぜこの規約が必要か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40680" cy="4297680"/>
          </a:xfrm>
          <a:prstGeom prst="roundRect">
            <a:avLst>
              <a:gd name="adj" fmla="val 1915"/>
            </a:avLst>
          </a:prstGeom>
          <a:solidFill>
            <a:srgbClr val="EEF3FB"/>
          </a:solidFill>
          <a:ln/>
          <a:effectLst>
            <a:outerShdw sx="100000" sy="100000" kx="0" ky="0" algn="bl" rotWithShape="0" blurRad="88900" dist="25400" dir="5400000">
              <a:srgbClr val="1E2761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920240"/>
            <a:ext cx="603504" cy="60350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5591" y="2077151"/>
            <a:ext cx="289682" cy="28968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265176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AIの使い方が人それぞれ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868680" y="3200400"/>
            <a:ext cx="48006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6000"/>
              </a:lnSpc>
              <a:spcAft>
                <a:spcPts val="800"/>
              </a:spcAft>
              <a:buSzPct val="100000"/>
              <a:buChar char="–"/>
            </a:pPr>
            <a:r>
              <a:rPr lang="en-US" sz="1400" dirty="0">
                <a:solidFill>
                  <a:srgbClr val="2226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各自の経験・独学に依存している</a:t>
            </a:r>
            <a:endParaRPr lang="en-US" sz="1400" dirty="0"/>
          </a:p>
          <a:p>
            <a:pPr marL="152400" indent="-152400">
              <a:lnSpc>
                <a:spcPct val="106000"/>
              </a:lnSpc>
              <a:spcAft>
                <a:spcPts val="800"/>
              </a:spcAft>
              <a:buSzPct val="100000"/>
              <a:buChar char="–"/>
            </a:pPr>
            <a:r>
              <a:rPr lang="en-US" sz="1400" dirty="0">
                <a:solidFill>
                  <a:srgbClr val="2226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共有会は全員には届かない — 自分でやらなければ、聞いただけでは理解にならない</a:t>
            </a:r>
            <a:endParaRPr lang="en-US" sz="1400" dirty="0"/>
          </a:p>
          <a:p>
            <a:pPr marL="152400" indent="-152400">
              <a:lnSpc>
                <a:spcPct val="106000"/>
              </a:lnSpc>
              <a:spcAft>
                <a:spcPts val="800"/>
              </a:spcAft>
              <a:buSzPct val="100000"/>
              <a:buChar char="–"/>
            </a:pPr>
            <a:r>
              <a:rPr lang="en-US" sz="1400" dirty="0">
                <a:solidFill>
                  <a:srgbClr val="2226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「効果的なやり方」がチームの資産として蓄積されない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199632" y="1600200"/>
            <a:ext cx="5440680" cy="4297680"/>
          </a:xfrm>
          <a:prstGeom prst="roundRect">
            <a:avLst>
              <a:gd name="adj" fmla="val 1915"/>
            </a:avLst>
          </a:prstGeom>
          <a:solidFill>
            <a:srgbClr val="EEF3FB"/>
          </a:solidFill>
          <a:ln/>
          <a:effectLst>
            <a:outerShdw sx="100000" sy="100000" kx="0" ky="0" algn="bl" rotWithShape="0" blurRad="88900" dist="25400" dir="5400000">
              <a:srgbClr val="1E2761">
                <a:alpha val="2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19672" y="1920240"/>
            <a:ext cx="603504" cy="60350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6583" y="2077151"/>
            <a:ext cx="289682" cy="28968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519672" y="265176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仕様の知識が二つの層の間で失われる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6519672" y="3200400"/>
            <a:ext cx="48006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6000"/>
              </a:lnSpc>
              <a:spcAft>
                <a:spcPts val="800"/>
              </a:spcAft>
              <a:buSzPct val="100000"/>
              <a:buChar char="–"/>
            </a:pPr>
            <a:r>
              <a:rPr lang="en-US" sz="1400" dirty="0">
                <a:solidFill>
                  <a:srgbClr val="2226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上位層（顧客・スーパーSE・リーダー）は Google Docs / Sheet / Slide で作業</a:t>
            </a:r>
            <a:endParaRPr lang="en-US" sz="1400" dirty="0"/>
          </a:p>
          <a:p>
            <a:pPr marL="152400" indent="-152400">
              <a:lnSpc>
                <a:spcPct val="106000"/>
              </a:lnSpc>
              <a:spcAft>
                <a:spcPts val="800"/>
              </a:spcAft>
              <a:buSzPct val="100000"/>
              <a:buChar char="–"/>
            </a:pPr>
            <a:r>
              <a:rPr lang="en-US" sz="1400" dirty="0">
                <a:solidFill>
                  <a:srgbClr val="2226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開発チーム + AI はリポジトリ内のテキストをIDEで扱う</a:t>
            </a:r>
            <a:endParaRPr lang="en-US" sz="1400" dirty="0"/>
          </a:p>
          <a:p>
            <a:pPr marL="152400" indent="-152400">
              <a:lnSpc>
                <a:spcPct val="106000"/>
              </a:lnSpc>
              <a:spcAft>
                <a:spcPts val="800"/>
              </a:spcAft>
              <a:buSzPct val="100000"/>
              <a:buChar char="–"/>
            </a:pPr>
            <a:r>
              <a:rPr lang="en-US" sz="1400" dirty="0">
                <a:solidFill>
                  <a:srgbClr val="2226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記録には「どこに保存するか」を考える手間がかかる → 記録が減る</a:t>
            </a:r>
            <a:endParaRPr lang="en-US" sz="1400" dirty="0"/>
          </a:p>
          <a:p>
            <a:pPr marL="152400" indent="-152400">
              <a:lnSpc>
                <a:spcPct val="106000"/>
              </a:lnSpc>
              <a:spcAft>
                <a:spcPts val="800"/>
              </a:spcAft>
              <a:buSzPct val="100000"/>
              <a:buChar char="–"/>
            </a:pPr>
            <a:r>
              <a:rPr lang="en-US" sz="1400" dirty="0">
                <a:solidFill>
                  <a:srgbClr val="2226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下への伝達漏れ → チームとAIが不完全な情報で作業する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C39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理念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四つの基本原則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440680" cy="2011680"/>
          </a:xfrm>
          <a:prstGeom prst="roundRect">
            <a:avLst>
              <a:gd name="adj" fmla="val 4091"/>
            </a:avLst>
          </a:prstGeom>
          <a:solidFill>
            <a:srgbClr val="EEF3FB"/>
          </a:solidFill>
          <a:ln/>
          <a:effectLst>
            <a:outerShdw sx="100000" sy="100000" kx="0" ky="0" algn="bl" rotWithShape="0" blurRad="88900" dist="25400" dir="5400000">
              <a:srgbClr val="1E2761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38528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5606" y="2081174"/>
            <a:ext cx="263347" cy="26334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72768" y="1901952"/>
            <a:ext cx="4160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覚えられるほどシンプルなルール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572768" y="2542032"/>
            <a:ext cx="411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2226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人間は少数のルールだけ覚える。複雑な部分はすべてinstruction fileに集約し、AIが実行する。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199632" y="1645920"/>
            <a:ext cx="5440680" cy="2011680"/>
          </a:xfrm>
          <a:prstGeom prst="roundRect">
            <a:avLst>
              <a:gd name="adj" fmla="val 4091"/>
            </a:avLst>
          </a:prstGeom>
          <a:solidFill>
            <a:srgbClr val="EEF3FB"/>
          </a:solidFill>
          <a:ln/>
          <a:effectLst>
            <a:outerShdw sx="100000" sy="100000" kx="0" ky="0" algn="bl" rotWithShape="0" blurRad="88900" dist="25400" dir="5400000">
              <a:srgbClr val="1E2761">
                <a:alpha val="2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73952" y="1938528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6598" y="2081174"/>
            <a:ext cx="263347" cy="26334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23760" y="1901952"/>
            <a:ext cx="4160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AIに最大限任せる — ただし依存ではない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7223760" y="2542032"/>
            <a:ext cx="411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2226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AIが得意な仕事はAIへ。人間は本来やるべき仕事に力を注ぐ：意思決定・交渉・検証。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48640" y="3886200"/>
            <a:ext cx="5440680" cy="2011680"/>
          </a:xfrm>
          <a:prstGeom prst="roundRect">
            <a:avLst>
              <a:gd name="adj" fmla="val 4091"/>
            </a:avLst>
          </a:prstGeom>
          <a:solidFill>
            <a:srgbClr val="EEF3FB"/>
          </a:solidFill>
          <a:ln/>
          <a:effectLst>
            <a:outerShdw sx="100000" sy="100000" kx="0" ky="0" algn="bl" rotWithShape="0" blurRad="88900" dist="25400" dir="5400000">
              <a:srgbClr val="1E2761">
                <a:alpha val="2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2960" y="4178808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606" y="4321454"/>
            <a:ext cx="263347" cy="26334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72768" y="4142232"/>
            <a:ext cx="4160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AIファーストのドキュメント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1572768" y="4782312"/>
            <a:ext cx="411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2226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知識はすべてtext / markdownへ。AIが完全に把握でき、人間も読めて管理できる。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199632" y="3886200"/>
            <a:ext cx="5440680" cy="2011680"/>
          </a:xfrm>
          <a:prstGeom prst="roundRect">
            <a:avLst>
              <a:gd name="adj" fmla="val 4091"/>
            </a:avLst>
          </a:prstGeom>
          <a:solidFill>
            <a:srgbClr val="EEF3FB"/>
          </a:solidFill>
          <a:ln/>
          <a:effectLst>
            <a:outerShdw sx="100000" sy="100000" kx="0" ky="0" algn="bl" rotWithShape="0" blurRad="88900" dist="25400" dir="5400000">
              <a:srgbClr val="1E2761">
                <a:alpha val="2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73952" y="4178808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6598" y="4321454"/>
            <a:ext cx="263347" cy="26334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223760" y="4142232"/>
            <a:ext cx="4160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リポジトリが知識の唯一の家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7223760" y="4782312"/>
            <a:ext cx="411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2226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docs/ に保存（ベトナム語で記述）。どこに保存するかはAIが決め、人間は結果を管理する。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C39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モデル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ドキュメントの二層モデル — 現実を受け入れ、役割を明確に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4892040" cy="3063240"/>
          </a:xfrm>
          <a:prstGeom prst="roundRect">
            <a:avLst>
              <a:gd name="adj" fmla="val 2687"/>
            </a:avLst>
          </a:prstGeom>
          <a:solidFill>
            <a:srgbClr val="EEF3FB"/>
          </a:solidFill>
          <a:ln/>
          <a:effectLst>
            <a:outerShdw sx="100000" sy="100000" kx="0" ky="0" algn="bl" rotWithShape="0" blurRad="88900" dist="25400" dir="5400000">
              <a:srgbClr val="1E2761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1828800"/>
            <a:ext cx="548640" cy="54864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3894" y="1971446"/>
            <a:ext cx="263347" cy="26334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36192" y="1883664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Google Drive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868680" y="2560320"/>
            <a:ext cx="429768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6000"/>
              </a:lnSpc>
              <a:spcAft>
                <a:spcPts val="600"/>
              </a:spcAft>
              <a:buSzPct val="100000"/>
              <a:buChar char="–"/>
            </a:pPr>
            <a:r>
              <a:rPr lang="en-US" sz="1250" dirty="0">
                <a:solidFill>
                  <a:srgbClr val="2226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顧客・上位層とのコミュニケーション／交渉の場</a:t>
            </a:r>
            <a:endParaRPr lang="en-US" sz="1250" dirty="0"/>
          </a:p>
          <a:p>
            <a:pPr marL="152400" indent="-152400">
              <a:lnSpc>
                <a:spcPct val="106000"/>
              </a:lnSpc>
              <a:spcAft>
                <a:spcPts val="600"/>
              </a:spcAft>
              <a:buSzPct val="100000"/>
              <a:buChar char="–"/>
            </a:pPr>
            <a:r>
              <a:rPr lang="en-US" sz="1250" dirty="0">
                <a:solidFill>
                  <a:srgbClr val="2226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SEが自ら作成・更新するのが基本 — 時にはAIに依頼（大きな表をxlsxで生成、直接編集）</a:t>
            </a:r>
            <a:endParaRPr lang="en-US" sz="1250" dirty="0"/>
          </a:p>
          <a:p>
            <a:pPr marL="152400" indent="-152400">
              <a:lnSpc>
                <a:spcPct val="106000"/>
              </a:lnSpc>
              <a:spcAft>
                <a:spcPts val="600"/>
              </a:spcAft>
              <a:buSzPct val="100000"/>
              <a:buChar char="–"/>
            </a:pPr>
            <a:r>
              <a:rPr lang="en-US" sz="1250" dirty="0">
                <a:solidFill>
                  <a:srgbClr val="2226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一時的なインプット：読んで知識を抽出したら役割終了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596128" y="2697480"/>
            <a:ext cx="960120" cy="731520"/>
          </a:xfrm>
          <a:prstGeom prst="chevron">
            <a:avLst/>
          </a:prstGeom>
          <a:solidFill>
            <a:srgbClr val="02C39A"/>
          </a:solidFill>
          <a:ln/>
        </p:spPr>
      </p:sp>
      <p:sp>
        <p:nvSpPr>
          <p:cNvPr id="10" name="Text 7"/>
          <p:cNvSpPr/>
          <p:nvPr/>
        </p:nvSpPr>
        <p:spPr>
          <a:xfrm>
            <a:off x="5413248" y="3493008"/>
            <a:ext cx="1325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A61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SE + AI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5A61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が変換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748272" y="1554480"/>
            <a:ext cx="4892040" cy="3063240"/>
          </a:xfrm>
          <a:prstGeom prst="roundRect">
            <a:avLst>
              <a:gd name="adj" fmla="val 2687"/>
            </a:avLst>
          </a:prstGeom>
          <a:solidFill>
            <a:srgbClr val="1E2761"/>
          </a:solidFill>
          <a:ln/>
          <a:effectLst>
            <a:outerShdw sx="100000" sy="100000" kx="0" ky="0" algn="bl" rotWithShape="0" blurRad="88900" dist="25400" dir="5400000">
              <a:srgbClr val="1E2761">
                <a:alpha val="2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040880" y="1828800"/>
            <a:ext cx="548640" cy="548640"/>
          </a:xfrm>
          <a:prstGeom prst="ellipse">
            <a:avLst/>
          </a:prstGeom>
          <a:solidFill>
            <a:srgbClr val="27336F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3526" y="1971446"/>
            <a:ext cx="263347" cy="263347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735824" y="1883664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リポジトリ — docs/</a:t>
            </a:r>
            <a:endParaRPr lang="en-US" sz="1900" dirty="0"/>
          </a:p>
        </p:txBody>
      </p:sp>
      <p:sp>
        <p:nvSpPr>
          <p:cNvPr id="15" name="Text 11"/>
          <p:cNvSpPr/>
          <p:nvPr/>
        </p:nvSpPr>
        <p:spPr>
          <a:xfrm>
            <a:off x="7068312" y="2560320"/>
            <a:ext cx="429768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6000"/>
              </a:lnSpc>
              <a:spcAft>
                <a:spcPts val="600"/>
              </a:spcAft>
              <a:buSzPct val="100000"/>
              <a:buChar char="–"/>
            </a:pPr>
            <a:r>
              <a:rPr lang="en-US" sz="1250" dirty="0">
                <a:solidFill>
                  <a:srgbClr val="CADC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チーム唯一の source of truth</a:t>
            </a:r>
            <a:endParaRPr lang="en-US" sz="1250" dirty="0"/>
          </a:p>
          <a:p>
            <a:pPr marL="152400" indent="-152400">
              <a:lnSpc>
                <a:spcPct val="106000"/>
              </a:lnSpc>
              <a:spcAft>
                <a:spcPts val="600"/>
              </a:spcAft>
              <a:buSzPct val="100000"/>
              <a:buChar char="–"/>
            </a:pPr>
            <a:r>
              <a:rPr lang="en-US" sz="1250" dirty="0">
                <a:solidFill>
                  <a:srgbClr val="CADC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生きた知識：AIと全メンバーが参照・更新</a:t>
            </a:r>
            <a:endParaRPr lang="en-US" sz="1250" dirty="0"/>
          </a:p>
          <a:p>
            <a:pPr marL="152400" indent="-152400">
              <a:lnSpc>
                <a:spcPct val="106000"/>
              </a:lnSpc>
              <a:spcAft>
                <a:spcPts val="600"/>
              </a:spcAft>
              <a:buSzPct val="100000"/>
              <a:buChar char="–"/>
            </a:pPr>
            <a:r>
              <a:rPr lang="en-US" sz="1250" dirty="0">
                <a:solidFill>
                  <a:srgbClr val="CADC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AIが書く — SEはほぼ手で編集しない：AIと議論し「関連ドキュメントを更新して」と依頼、diffをレビュー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548640" y="4983480"/>
            <a:ext cx="11091672" cy="123444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/>
          <a:effectLst>
            <a:outerShdw sx="100000" sy="100000" kx="0" ky="0" algn="bl" rotWithShape="0" blurRad="88900" dist="25400" dir="5400000">
              <a:srgbClr val="1E2761">
                <a:alpha val="22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868680" y="5138928"/>
            <a:ext cx="10469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02C39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変換の単位はドキュメントではなく「出来事」。  </a:t>
            </a:r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リポジトリに入れるのは「打合せで確定した内容」であり、「ファイルのコピー」ではない。Driveのファイルが後で修正されたら？ — それは新しい出来事で、新しい変換を行うだけ。Driveを監視する仕組みは不要。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C39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人間側のルール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暗記すべき五つのルール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55448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658368" y="15361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25880" y="1481328"/>
            <a:ext cx="10332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6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リポジトリが仕様知識の唯一の家</a:t>
            </a:r>
            <a:endParaRPr lang="en-US" sz="1650" dirty="0"/>
          </a:p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250" dirty="0">
                <a:solidFill>
                  <a:srgbClr val="CADC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docs/ にないものは、チームもAIも「知らないもの」とみなす。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658368" y="2578608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" y="2560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25880" y="2505456"/>
            <a:ext cx="10332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6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出来事ごとに、すぐ変換</a:t>
            </a:r>
            <a:endParaRPr lang="en-US" sz="1650" dirty="0"/>
          </a:p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250" dirty="0">
                <a:solidFill>
                  <a:srgbClr val="CADC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打合せ・決定のたびに：担当SEがAIと10〜15分で内容をリポジトリへ。溜め込まない。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658368" y="3602736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" y="35844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325880" y="3529584"/>
            <a:ext cx="10332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6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話したら書く — 書くまでは終わっていない</a:t>
            </a:r>
            <a:endParaRPr lang="en-US" sz="1650" dirty="0"/>
          </a:p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250" dirty="0">
                <a:solidFill>
                  <a:srgbClr val="CADC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セッションの最後に固定の質問：「今日決めたことで、docsにまだ無いものは？」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658368" y="4626864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4" name="Text 12"/>
          <p:cNvSpPr/>
          <p:nvPr/>
        </p:nvSpPr>
        <p:spPr>
          <a:xfrm>
            <a:off x="658368" y="46085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325880" y="4553712"/>
            <a:ext cx="10332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6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取り返しの難しさに応じてレビュー</a:t>
            </a:r>
            <a:endParaRPr lang="en-US" sz="1650" dirty="0"/>
          </a:p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250" dirty="0">
                <a:solidFill>
                  <a:srgbClr val="CADC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顧客と合意済み（interface・範囲・金額）→ 一字一句レビュー。内部の解釈 → 軽くレビュー。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658368" y="5650992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7" name="Text 15"/>
          <p:cNvSpPr/>
          <p:nvPr/>
        </p:nvSpPr>
        <p:spPr>
          <a:xfrm>
            <a:off x="658368" y="56327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325880" y="5577840"/>
            <a:ext cx="10332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6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AIが得意な仕事はAIへ</a:t>
            </a:r>
            <a:endParaRPr lang="en-US" sz="1650" dirty="0"/>
          </a:p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250" dirty="0">
                <a:solidFill>
                  <a:srgbClr val="CADC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起草・変換・図示・一貫性の維持 — AIの仕事。意思決定・交渉・検証 — 人間の仕事。</a:t>
            </a:r>
            <a:endParaRPr lang="en-US" sz="1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C39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運用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Drive → リポジトリ変換の儀式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2801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1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実施者：プロジェクト担当SE — 打合せ・決定の直後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58368" y="187452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1856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86968" y="2359152"/>
            <a:ext cx="0" cy="502920"/>
          </a:xfrm>
          <a:prstGeom prst="line">
            <a:avLst/>
          </a:prstGeom>
          <a:noFill/>
          <a:ln w="31750">
            <a:solidFill>
              <a:srgbClr val="CADC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98448" y="1810512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55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AIに素材を渡す</a:t>
            </a:r>
            <a:endParaRPr lang="en-US" sz="15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5A61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Docs / Sheet / Slide + 文脈：「X日の打合せ結果、テーマはY」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658368" y="290779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28895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86968" y="3392424"/>
            <a:ext cx="0" cy="502920"/>
          </a:xfrm>
          <a:prstGeom prst="line">
            <a:avLst/>
          </a:prstGeom>
          <a:noFill/>
          <a:ln w="31750">
            <a:solidFill>
              <a:srgbClr val="CADCF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98448" y="2843784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55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AIがmarkdownへ変換</a:t>
            </a:r>
            <a:endParaRPr lang="en-US" sz="15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5A61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docs構成に従いAIが保存先を決定、目次も自動更新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658368" y="3941064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658368" y="39227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886968" y="4425696"/>
            <a:ext cx="0" cy="502920"/>
          </a:xfrm>
          <a:prstGeom prst="line">
            <a:avLst/>
          </a:prstGeom>
          <a:noFill/>
          <a:ln w="31750">
            <a:solidFill>
              <a:srgbClr val="CADCF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98448" y="3877056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55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SEがその場でチェック</a:t>
            </a:r>
            <a:endParaRPr lang="en-US" sz="15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5A61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スライドやExcelの自由な図はAIが誤読しやすい — 右の2つの技法で確認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658368" y="4974336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658368" y="4956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298448" y="4910328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55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確定</a:t>
            </a:r>
            <a:endParaRPr lang="en-US" sz="15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5A61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承認、status更新、コミット</a:t>
            </a:r>
            <a:endParaRPr lang="en-US" sz="1550" dirty="0"/>
          </a:p>
        </p:txBody>
      </p:sp>
      <p:sp>
        <p:nvSpPr>
          <p:cNvPr id="20" name="Shape 18"/>
          <p:cNvSpPr/>
          <p:nvPr/>
        </p:nvSpPr>
        <p:spPr>
          <a:xfrm>
            <a:off x="6446520" y="1783080"/>
            <a:ext cx="5193792" cy="3291840"/>
          </a:xfrm>
          <a:prstGeom prst="roundRect">
            <a:avLst>
              <a:gd name="adj" fmla="val 2500"/>
            </a:avLst>
          </a:prstGeom>
          <a:solidFill>
            <a:srgbClr val="EEF3FB"/>
          </a:solidFill>
          <a:ln/>
          <a:effectLst>
            <a:outerShdw sx="100000" sy="100000" kx="0" ky="0" algn="bl" rotWithShape="0" blurRad="88900" dist="25400" dir="5400000">
              <a:srgbClr val="1E2761">
                <a:alpha val="2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766560" y="2011680"/>
            <a:ext cx="45537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二つの検証技法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6766560" y="2560320"/>
            <a:ext cx="475488" cy="475488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90187" y="2683947"/>
            <a:ext cx="228234" cy="228234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7406640" y="2514600"/>
            <a:ext cx="391363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図による逆検証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2226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AIが理解した内容を図に描き直させ（Mermaid / drawio）、原本と並べて目視で比較する。ズレは一目瞭然。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6766560" y="3794760"/>
            <a:ext cx="475488" cy="475488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0187" y="3918387"/>
            <a:ext cx="228234" cy="228234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7406640" y="3749040"/>
            <a:ext cx="39136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不明点リスト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2226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AIは「不確かな点・曖昧な点・推測した点」の申告が義務 — 黙って空欄を埋めてはならない。短いリストだが、SEが最も熟読すべき箇所。</a:t>
            </a:r>
            <a:endParaRPr lang="en-US" sz="1250" dirty="0"/>
          </a:p>
        </p:txBody>
      </p:sp>
      <p:sp>
        <p:nvSpPr>
          <p:cNvPr id="28" name="Shape 24"/>
          <p:cNvSpPr/>
          <p:nvPr/>
        </p:nvSpPr>
        <p:spPr>
          <a:xfrm>
            <a:off x="6446520" y="5303520"/>
            <a:ext cx="5193792" cy="914400"/>
          </a:xfrm>
          <a:prstGeom prst="roundRect">
            <a:avLst>
              <a:gd name="adj" fmla="val 9000"/>
            </a:avLst>
          </a:prstGeom>
          <a:solidFill>
            <a:srgbClr val="EEF3FB"/>
          </a:solidFill>
          <a:ln/>
          <a:effectLst>
            <a:outerShdw sx="100000" sy="100000" kx="0" ky="0" algn="bl" rotWithShape="0" blurRad="88900" dist="25400" dir="5400000">
              <a:srgbClr val="1E2761">
                <a:alpha val="22000"/>
              </a:srgbClr>
            </a:outerShdw>
          </a:effectLst>
        </p:spPr>
      </p:sp>
      <p:sp>
        <p:nvSpPr>
          <p:cNvPr id="29" name="Shape 25"/>
          <p:cNvSpPr/>
          <p:nvPr/>
        </p:nvSpPr>
        <p:spPr>
          <a:xfrm>
            <a:off x="6766560" y="5477256"/>
            <a:ext cx="475488" cy="475488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0187" y="5600883"/>
            <a:ext cx="228234" cy="228234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7406640" y="5413248"/>
            <a:ext cx="39136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226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会社が承認したAIツールのみ使用。特別なNDAがある案件 → 適用前にSEが確認。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C39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運用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ドキュメントのステータス — 何が、誰と確定済みか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91672" cy="566928"/>
          </a:xfrm>
          <a:prstGeom prst="roundRect">
            <a:avLst>
              <a:gd name="adj" fmla="val 9677"/>
            </a:avLst>
          </a:prstGeom>
          <a:solidFill>
            <a:srgbClr val="F1F3F8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60020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Status: draft | agreed-internal | agreed-customer (YYYY-MM-DD)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66928" y="22128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1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— 各仕様ファイルの冒頭に一行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3383280" cy="2377440"/>
          </a:xfrm>
          <a:prstGeom prst="roundRect">
            <a:avLst>
              <a:gd name="adj" fmla="val 3462"/>
            </a:avLst>
          </a:prstGeom>
          <a:solidFill>
            <a:srgbClr val="F1F3F8"/>
          </a:solidFill>
          <a:ln/>
          <a:effectLst>
            <a:outerShdw sx="100000" sy="100000" kx="0" ky="0" algn="bl" rotWithShape="0" blurRad="88900" dist="25400" dir="5400000">
              <a:srgbClr val="1E2761">
                <a:alpha val="2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2960" y="299923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draft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345643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ドラフト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3950208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2226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AIが起草、または議論中。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2226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拘束力なし — 軽くレビュー。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005072" y="3767328"/>
            <a:ext cx="329184" cy="329184"/>
          </a:xfrm>
          <a:prstGeom prst="chevron">
            <a:avLst/>
          </a:prstGeom>
          <a:solidFill>
            <a:srgbClr val="02C39A"/>
          </a:solidFill>
          <a:ln/>
        </p:spPr>
      </p:sp>
      <p:sp>
        <p:nvSpPr>
          <p:cNvPr id="12" name="Shape 10"/>
          <p:cNvSpPr/>
          <p:nvPr/>
        </p:nvSpPr>
        <p:spPr>
          <a:xfrm>
            <a:off x="4398264" y="2743200"/>
            <a:ext cx="3383280" cy="2377440"/>
          </a:xfrm>
          <a:prstGeom prst="roundRect">
            <a:avLst>
              <a:gd name="adj" fmla="val 3462"/>
            </a:avLst>
          </a:prstGeom>
          <a:solidFill>
            <a:srgbClr val="CADCFC"/>
          </a:solidFill>
          <a:ln/>
          <a:effectLst>
            <a:outerShdw sx="100000" sy="100000" kx="0" ky="0" algn="bl" rotWithShape="0" blurRad="88900" dist="25400" dir="5400000">
              <a:srgbClr val="1E2761">
                <a:alpha val="2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72584" y="299923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agreed-internal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672584" y="345643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チーム内で合意済み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72584" y="3950208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2226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開発を進める基盤；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2226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内部での微調整はまだ可能。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854696" y="3767328"/>
            <a:ext cx="329184" cy="329184"/>
          </a:xfrm>
          <a:prstGeom prst="chevron">
            <a:avLst/>
          </a:prstGeom>
          <a:solidFill>
            <a:srgbClr val="02C39A"/>
          </a:solidFill>
          <a:ln/>
        </p:spPr>
      </p:sp>
      <p:sp>
        <p:nvSpPr>
          <p:cNvPr id="17" name="Shape 15"/>
          <p:cNvSpPr/>
          <p:nvPr/>
        </p:nvSpPr>
        <p:spPr>
          <a:xfrm>
            <a:off x="8247888" y="2743200"/>
            <a:ext cx="3383280" cy="2377440"/>
          </a:xfrm>
          <a:prstGeom prst="roundRect">
            <a:avLst>
              <a:gd name="adj" fmla="val 3462"/>
            </a:avLst>
          </a:prstGeom>
          <a:solidFill>
            <a:srgbClr val="1E2761"/>
          </a:solidFill>
          <a:ln/>
          <a:effectLst>
            <a:outerShdw sx="100000" sy="100000" kx="0" ky="0" algn="bl" rotWithShape="0" blurRad="88900" dist="25400" dir="5400000">
              <a:srgbClr val="1E2761">
                <a:alpha val="2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522208" y="299923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agreed-customer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522208" y="345643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顧客と確定済み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522208" y="3950208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契約に近い拘束力。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修正 = 再交渉 → 一字一句レビュー。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66928" y="54864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agreed-customer への変更はプロジェクト担当SEのみ。</a:t>
            </a:r>
            <a:pPr indent="0" marL="0">
              <a:buNone/>
            </a:pPr>
            <a:r>
              <a:rPr lang="en-US" sz="1300" dirty="0">
                <a:solidFill>
                  <a:srgbClr val="5A61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  ·   開発チームはstatusを見て、拘束力ある仕様とブレインストームを区別する。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C39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運用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docsに何を書くか — 散文ではなく、意思決定を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440680" cy="3566160"/>
          </a:xfrm>
          <a:prstGeom prst="roundRect">
            <a:avLst>
              <a:gd name="adj" fmla="val 2308"/>
            </a:avLst>
          </a:prstGeom>
          <a:solidFill>
            <a:srgbClr val="EEF3FB"/>
          </a:solidFill>
          <a:ln/>
          <a:effectLst>
            <a:outerShdw sx="100000" sy="100000" kx="0" ky="0" algn="bl" rotWithShape="0" blurRad="88900" dist="25400" dir="5400000">
              <a:srgbClr val="1E2761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92024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1326" y="2062886"/>
            <a:ext cx="263347" cy="26334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72768" y="198424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優先して記録するもの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68680" y="2651760"/>
            <a:ext cx="481888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6000"/>
              </a:lnSpc>
              <a:spcAft>
                <a:spcPts val="700"/>
              </a:spcAft>
              <a:buSzPct val="100000"/>
              <a:buChar char="–"/>
            </a:pPr>
            <a:r>
              <a:rPr lang="en-US" sz="1250" dirty="0">
                <a:solidFill>
                  <a:srgbClr val="2226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決定 + 背景 + 理由 — 簡潔なADR (Architecture Decision Record)：背景 → 決定 → 帰結</a:t>
            </a:r>
            <a:endParaRPr lang="en-US" sz="1250" dirty="0"/>
          </a:p>
          <a:p>
            <a:pPr marL="152400" indent="-152400">
              <a:lnSpc>
                <a:spcPct val="106000"/>
              </a:lnSpc>
              <a:spcAft>
                <a:spcPts val="700"/>
              </a:spcAft>
              <a:buSzPct val="100000"/>
              <a:buChar char="–"/>
            </a:pPr>
            <a:r>
              <a:rPr lang="en-US" sz="1250" dirty="0">
                <a:solidFill>
                  <a:srgbClr val="2226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未確定の論点</a:t>
            </a:r>
            <a:endParaRPr lang="en-US" sz="1250" dirty="0"/>
          </a:p>
          <a:p>
            <a:pPr marL="152400" indent="-152400">
              <a:lnSpc>
                <a:spcPct val="106000"/>
              </a:lnSpc>
              <a:spcAft>
                <a:spcPts val="700"/>
              </a:spcAft>
              <a:buSzPct val="100000"/>
              <a:buChar char="–"/>
            </a:pPr>
            <a:r>
              <a:rPr lang="en-US" sz="1250" dirty="0">
                <a:solidFill>
                  <a:srgbClr val="2226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顧客からの制約</a:t>
            </a:r>
            <a:endParaRPr lang="en-US" sz="1250" dirty="0"/>
          </a:p>
          <a:p>
            <a:pPr marL="152400" indent="-152400">
              <a:lnSpc>
                <a:spcPct val="106000"/>
              </a:lnSpc>
              <a:spcAft>
                <a:spcPts val="700"/>
              </a:spcAft>
              <a:buSzPct val="100000"/>
              <a:buChar char="–"/>
            </a:pPr>
            <a:r>
              <a:rPr lang="en-US" sz="1250" dirty="0">
                <a:solidFill>
                  <a:srgbClr val="2226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AIは文章を書くのが得意 — ドキュメントは膨らみやすいが、正しくはならない。従来型の大部な文書一式を再現しない。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199632" y="1645920"/>
            <a:ext cx="5440680" cy="3566160"/>
          </a:xfrm>
          <a:prstGeom prst="roundRect">
            <a:avLst>
              <a:gd name="adj" fmla="val 2308"/>
            </a:avLst>
          </a:prstGeom>
          <a:solidFill>
            <a:srgbClr val="EEF3FB"/>
          </a:solidFill>
          <a:ln/>
          <a:effectLst>
            <a:outerShdw sx="100000" sy="100000" kx="0" ky="0" algn="bl" rotWithShape="0" blurRad="88900" dist="25400" dir="5400000">
              <a:srgbClr val="1E2761">
                <a:alpha val="2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19672" y="192024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2318" y="2062886"/>
            <a:ext cx="263347" cy="26334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23760" y="198424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図とイメージ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6519672" y="2651760"/>
            <a:ext cx="4818888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6000"/>
              </a:lnSpc>
              <a:spcAft>
                <a:spcPts val="700"/>
              </a:spcAft>
              <a:buSzPct val="100000"/>
              <a:buChar char="–"/>
            </a:pPr>
            <a:r>
              <a:rPr lang="en-US" sz="1250" dirty="0">
                <a:solidFill>
                  <a:srgbClr val="2226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Mermaid — デフォルト（約80%）：sequence, state, ER, flow；GitHub / VSCodeでそのまま表示</a:t>
            </a:r>
            <a:endParaRPr lang="en-US" sz="1250" dirty="0"/>
          </a:p>
          <a:p>
            <a:pPr marL="152400" indent="-152400">
              <a:lnSpc>
                <a:spcPct val="106000"/>
              </a:lnSpc>
              <a:spcAft>
                <a:spcPts val="700"/>
              </a:spcAft>
              <a:buSzPct val="100000"/>
              <a:buChar char="–"/>
            </a:pPr>
            <a:r>
              <a:rPr lang="en-US" sz="1250" dirty="0">
                <a:solidFill>
                  <a:srgbClr val="2226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PlantUML — Mermaidにない標準UMLが必要な時（swimlane付きactivity、component）；これもtext</a:t>
            </a:r>
            <a:endParaRPr lang="en-US" sz="1250" dirty="0"/>
          </a:p>
          <a:p>
            <a:pPr marL="152400" indent="-152400">
              <a:lnSpc>
                <a:spcPct val="106000"/>
              </a:lnSpc>
              <a:spcAft>
                <a:spcPts val="700"/>
              </a:spcAft>
              <a:buSzPct val="100000"/>
              <a:buChar char="–"/>
            </a:pPr>
            <a:r>
              <a:rPr lang="en-US" sz="1250" dirty="0">
                <a:solidFill>
                  <a:srgbClr val="2226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drawio — レイアウト調整／SEの手描きが必要な時；.drawio.svg で保存 + text説明を添付</a:t>
            </a:r>
            <a:endParaRPr lang="en-US" sz="1250" dirty="0"/>
          </a:p>
          <a:p>
            <a:pPr marL="152400" indent="-152400">
              <a:lnSpc>
                <a:spcPct val="106000"/>
              </a:lnSpc>
              <a:spcAft>
                <a:spcPts val="700"/>
              </a:spcAft>
              <a:buSzPct val="100000"/>
              <a:buChar char="–"/>
            </a:pPr>
            <a:r>
              <a:rPr lang="en-US" sz="1250" dirty="0">
                <a:solidFill>
                  <a:srgbClr val="2226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埋め込み画像は死んだ知識 → 参考用のみ、「仕様ではない」と明記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6519672" y="4709160"/>
            <a:ext cx="48188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真実はtextにある — 図はビュー。食い違ったらtextが勝つ。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548640" y="548640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i="1" dirty="0">
                <a:solidFill>
                  <a:srgbClr val="02C39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「短くて正しいは、長くて滑らかに勝つ。」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C39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INSTRUCTION FILE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AI側のルール — リポジトリ内のinstruction file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194560" cy="502920"/>
          </a:xfrm>
          <a:prstGeom prst="roundRect">
            <a:avLst>
              <a:gd name="adj" fmla="val 12727"/>
            </a:avLst>
          </a:prstGeom>
          <a:solidFill>
            <a:srgbClr val="EEF3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7373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CLAUDE.md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2834640" y="1737360"/>
            <a:ext cx="2194560" cy="502920"/>
          </a:xfrm>
          <a:prstGeom prst="roundRect">
            <a:avLst>
              <a:gd name="adj" fmla="val 12727"/>
            </a:avLst>
          </a:prstGeom>
          <a:solidFill>
            <a:srgbClr val="EEF3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834640" y="17373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.cursor/rules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788920" y="2240280"/>
            <a:ext cx="0" cy="256032"/>
          </a:xfrm>
          <a:prstGeom prst="line">
            <a:avLst/>
          </a:prstGeom>
          <a:noFill/>
          <a:ln w="19050">
            <a:solidFill>
              <a:srgbClr val="5A6178"/>
            </a:solidFill>
            <a:prstDash val="solid"/>
            <a:tailEnd type="arrow"/>
          </a:ln>
        </p:spPr>
      </p:sp>
      <p:sp>
        <p:nvSpPr>
          <p:cNvPr id="9" name="Shape 7"/>
          <p:cNvSpPr/>
          <p:nvPr/>
        </p:nvSpPr>
        <p:spPr>
          <a:xfrm>
            <a:off x="548640" y="2496312"/>
            <a:ext cx="4480560" cy="841248"/>
          </a:xfrm>
          <a:prstGeom prst="roundRect">
            <a:avLst>
              <a:gd name="adj" fmla="val 8696"/>
            </a:avLst>
          </a:prstGeom>
          <a:solidFill>
            <a:srgbClr val="CADCFC"/>
          </a:solidFill>
          <a:ln/>
          <a:effectLst>
            <a:outerShdw sx="100000" sy="100000" kx="0" ky="0" algn="bl" rotWithShape="0" blurRad="88900" dist="25400" dir="5400000">
              <a:srgbClr val="1E2761">
                <a:alpha val="2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8640" y="2606040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AGENTS.md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2980944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プロジェクト自身のルート — 固有ルール + リンク1行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788920" y="3337560"/>
            <a:ext cx="0" cy="237744"/>
          </a:xfrm>
          <a:prstGeom prst="line">
            <a:avLst/>
          </a:prstGeom>
          <a:noFill/>
          <a:ln w="19050">
            <a:solidFill>
              <a:srgbClr val="5A6178"/>
            </a:solidFill>
            <a:prstDash val="solid"/>
            <a:tailEnd type="arrow"/>
          </a:ln>
        </p:spPr>
      </p:sp>
      <p:sp>
        <p:nvSpPr>
          <p:cNvPr id="13" name="Shape 11"/>
          <p:cNvSpPr/>
          <p:nvPr/>
        </p:nvSpPr>
        <p:spPr>
          <a:xfrm>
            <a:off x="548640" y="3575304"/>
            <a:ext cx="4480560" cy="841248"/>
          </a:xfrm>
          <a:prstGeom prst="roundRect">
            <a:avLst>
              <a:gd name="adj" fmla="val 8696"/>
            </a:avLst>
          </a:prstGeom>
          <a:solidFill>
            <a:srgbClr val="02C39A"/>
          </a:solidFill>
          <a:ln/>
          <a:effectLst>
            <a:outerShdw sx="100000" sy="100000" kx="0" ky="0" algn="bl" rotWithShape="0" blurRad="88900" dist="25400" dir="5400000">
              <a:srgbClr val="1E2761">
                <a:alpha val="2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48640" y="3685032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AGENTS-SystemDesign.md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4059936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アダプタ — 常時有効の3つの行動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788920" y="4416552"/>
            <a:ext cx="0" cy="237744"/>
          </a:xfrm>
          <a:prstGeom prst="line">
            <a:avLst/>
          </a:prstGeom>
          <a:noFill/>
          <a:ln w="19050">
            <a:solidFill>
              <a:srgbClr val="5A6178"/>
            </a:solidFill>
            <a:prstDash val="solid"/>
            <a:tailEnd type="arrow"/>
          </a:ln>
        </p:spPr>
      </p:sp>
      <p:sp>
        <p:nvSpPr>
          <p:cNvPr id="17" name="Shape 15"/>
          <p:cNvSpPr/>
          <p:nvPr/>
        </p:nvSpPr>
        <p:spPr>
          <a:xfrm>
            <a:off x="548640" y="4654296"/>
            <a:ext cx="4480560" cy="841248"/>
          </a:xfrm>
          <a:prstGeom prst="roundRect">
            <a:avLst>
              <a:gd name="adj" fmla="val 8696"/>
            </a:avLst>
          </a:prstGeom>
          <a:solidFill>
            <a:srgbClr val="1E2761"/>
          </a:solidFill>
          <a:ln/>
          <a:effectLst>
            <a:outerShdw sx="100000" sy="100000" kx="0" ky="0" algn="bl" rotWithShape="0" blurRad="88900" dist="25400" dir="5400000">
              <a:srgbClr val="1E2761">
                <a:alpha val="2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48640" y="4764024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docs/SystemDesign/AGENTS.md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5138928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設計ドキュメント領域の全ルール — 必要時に読込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48640" y="5632704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i="1" dirty="0">
                <a:solidFill>
                  <a:srgbClr val="5A61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我々のルールセットは下の2ファイル — 更新は上書きコピーのみで、プロジェクト固有ルールには触れない。ルールの内容はツール選択より長生きする。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0" y="1691640"/>
            <a:ext cx="612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AIに義務付けること：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5486400" y="2194560"/>
            <a:ext cx="61264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6000"/>
              </a:lnSpc>
              <a:spcAft>
                <a:spcPts val="900"/>
              </a:spcAft>
              <a:buSzPct val="100000"/>
              <a:buChar char="–"/>
            </a:pPr>
            <a:r>
              <a:rPr lang="en-US" sz="1300" dirty="0">
                <a:solidFill>
                  <a:srgbClr val="2226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docs構成に従い保存先を自ら決定；目次と相互リンクを維持</a:t>
            </a:r>
            <a:endParaRPr lang="en-US" sz="1300" dirty="0"/>
          </a:p>
          <a:p>
            <a:pPr marL="152400" indent="-152400">
              <a:lnSpc>
                <a:spcPct val="106000"/>
              </a:lnSpc>
              <a:spcAft>
                <a:spcPts val="900"/>
              </a:spcAft>
              <a:buSzPct val="100000"/>
              <a:buChar char="–"/>
            </a:pPr>
            <a:r>
              <a:rPr lang="en-US" sz="1300" dirty="0">
                <a:solidFill>
                  <a:srgbClr val="2226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修正前に計画を提示 — 小さなdiffで、まとめて再生成しない</a:t>
            </a:r>
            <a:endParaRPr lang="en-US" sz="1300" dirty="0"/>
          </a:p>
          <a:p>
            <a:pPr marL="152400" indent="-152400">
              <a:lnSpc>
                <a:spcPct val="106000"/>
              </a:lnSpc>
              <a:spcAft>
                <a:spcPts val="900"/>
              </a:spcAft>
              <a:buSzPct val="100000"/>
              <a:buChar char="–"/>
            </a:pPr>
            <a:r>
              <a:rPr lang="en-US" sz="1300" dirty="0">
                <a:solidFill>
                  <a:srgbClr val="2226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元資料の変換時は不明点を申告する</a:t>
            </a:r>
            <a:endParaRPr lang="en-US" sz="1300" dirty="0"/>
          </a:p>
          <a:p>
            <a:pPr marL="152400" indent="-152400">
              <a:lnSpc>
                <a:spcPct val="106000"/>
              </a:lnSpc>
              <a:spcAft>
                <a:spcPts val="900"/>
              </a:spcAft>
              <a:buSzPct val="100000"/>
              <a:buChar char="–"/>
            </a:pPr>
            <a:r>
              <a:rPr lang="en-US" sz="1300" dirty="0">
                <a:solidFill>
                  <a:srgbClr val="2226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会話の中で決定が生まれたら、記録を自ら提案する</a:t>
            </a:r>
            <a:endParaRPr lang="en-US" sz="1300" dirty="0"/>
          </a:p>
          <a:p>
            <a:pPr marL="152400" indent="-152400">
              <a:lnSpc>
                <a:spcPct val="106000"/>
              </a:lnSpc>
              <a:spcAft>
                <a:spcPts val="900"/>
              </a:spcAft>
              <a:buSzPct val="100000"/>
              <a:buChar char="–"/>
            </a:pPr>
            <a:r>
              <a:rPr lang="en-US" sz="1300" dirty="0">
                <a:solidFill>
                  <a:srgbClr val="2226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図はMermaidで — 仕様に埋め込み画像を作らない</a:t>
            </a:r>
            <a:endParaRPr lang="en-US" sz="1300" dirty="0"/>
          </a:p>
          <a:p>
            <a:pPr marL="152400" indent="-152400">
              <a:lnSpc>
                <a:spcPct val="106000"/>
              </a:lnSpc>
              <a:spcAft>
                <a:spcPts val="900"/>
              </a:spcAft>
              <a:buSzPct val="100000"/>
              <a:buChar char="–"/>
            </a:pPr>
            <a:r>
              <a:rPr lang="en-US" sz="1300" dirty="0">
                <a:solidFill>
                  <a:srgbClr val="2226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statusを尊重：agreed-customerは勝手に修正しない；更新時は簡潔なchangelog（重要な節目のみ）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486400" y="5349240"/>
            <a:ext cx="6126480" cy="868680"/>
          </a:xfrm>
          <a:prstGeom prst="roundRect">
            <a:avLst>
              <a:gd name="adj" fmla="val 9474"/>
            </a:avLst>
          </a:prstGeom>
          <a:solidFill>
            <a:srgbClr val="1E2761"/>
          </a:solidFill>
          <a:ln/>
          <a:effectLst>
            <a:outerShdw sx="100000" sy="100000" kx="0" ky="0" algn="bl" rotWithShape="0" blurRad="88900" dist="25400" dir="5400000">
              <a:srgbClr val="1E2761">
                <a:alpha val="2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760720" y="5349240"/>
            <a:ext cx="5577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どのAIアシスタントでリポジトリを開いても、同じ規律に入る — 「人それぞれ」問題への解答。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C39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要注意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最大のリスクはAIではなく — レビューにある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40680" cy="2148840"/>
          </a:xfrm>
          <a:prstGeom prst="roundRect">
            <a:avLst>
              <a:gd name="adj" fmla="val 3830"/>
            </a:avLst>
          </a:prstGeom>
          <a:solidFill>
            <a:srgbClr val="EEF3FB"/>
          </a:solidFill>
          <a:ln/>
          <a:effectLst>
            <a:outerShdw sx="100000" sy="100000" kx="0" ky="0" algn="bl" rotWithShape="0" blurRad="88900" dist="25400" dir="5400000">
              <a:srgbClr val="1E2761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856232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809" y="1989369"/>
            <a:ext cx="245791" cy="24579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837944"/>
            <a:ext cx="4251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形だけのレビュー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508760" y="2276856"/>
            <a:ext cx="4206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150" dirty="0">
                <a:solidFill>
                  <a:srgbClr val="2226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AIの文章は流暢 → 流し読みして承認してしまう。少しズレた仕様が、もっともらしく見えて正式になる。</a:t>
            </a:r>
            <a:endParaRPr lang="en-US" sz="1150" dirty="0"/>
          </a:p>
          <a:p>
            <a:pPr indent="0" marL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02C39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対策:  </a:t>
            </a:r>
            <a:pPr indent="0" marL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150" dirty="0">
                <a:solidFill>
                  <a:srgbClr val="5A61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図による逆検証 + 不明点リストの熟読。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199632" y="1600200"/>
            <a:ext cx="5440680" cy="2148840"/>
          </a:xfrm>
          <a:prstGeom prst="roundRect">
            <a:avLst>
              <a:gd name="adj" fmla="val 3830"/>
            </a:avLst>
          </a:prstGeom>
          <a:solidFill>
            <a:srgbClr val="EEF3FB"/>
          </a:solidFill>
          <a:ln/>
          <a:effectLst>
            <a:outerShdw sx="100000" sy="100000" kx="0" ky="0" algn="bl" rotWithShape="0" blurRad="88900" dist="25400" dir="5400000">
              <a:srgbClr val="1E2761">
                <a:alpha val="2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55664" y="1856232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8801" y="1989369"/>
            <a:ext cx="245791" cy="24579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59752" y="1837944"/>
            <a:ext cx="4251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整って見えるが、密かに間違っている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7159752" y="2276856"/>
            <a:ext cx="4206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150" dirty="0">
                <a:solidFill>
                  <a:srgbClr val="2226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整然としたドキュメントの隠れた誤りは、バラバラなメモより危険 — 信頼を生んでしまうから。</a:t>
            </a:r>
            <a:endParaRPr lang="en-US" sz="1150" dirty="0"/>
          </a:p>
          <a:p>
            <a:pPr indent="0" marL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02C39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対策:  </a:t>
            </a:r>
            <a:pPr indent="0" marL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150" dirty="0">
                <a:solidFill>
                  <a:srgbClr val="5A61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小さなdiff + changelog；時々AIに原則との矛盾を自己点検させる。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3931920"/>
            <a:ext cx="5440680" cy="2148840"/>
          </a:xfrm>
          <a:prstGeom prst="roundRect">
            <a:avLst>
              <a:gd name="adj" fmla="val 3830"/>
            </a:avLst>
          </a:prstGeom>
          <a:solidFill>
            <a:srgbClr val="EEF3FB"/>
          </a:solidFill>
          <a:ln/>
          <a:effectLst>
            <a:outerShdw sx="100000" sy="100000" kx="0" ky="0" algn="bl" rotWithShape="0" blurRad="88900" dist="25400" dir="5400000">
              <a:srgbClr val="1E2761">
                <a:alpha val="2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04672" y="4187952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809" y="4321089"/>
            <a:ext cx="245791" cy="24579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08760" y="4169664"/>
            <a:ext cx="4251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文字は増えても、正しさは増えない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1508760" y="4608576"/>
            <a:ext cx="4206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150" dirty="0">
                <a:solidFill>
                  <a:srgbClr val="2226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重要な決定が、AIの生む もっともらしい定型文に埋もれる。</a:t>
            </a:r>
            <a:endParaRPr lang="en-US" sz="1150" dirty="0"/>
          </a:p>
          <a:p>
            <a:pPr indent="0" marL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02C39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対策:  </a:t>
            </a:r>
            <a:pPr indent="0" marL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150" dirty="0">
                <a:solidFill>
                  <a:srgbClr val="5A61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散文より、決定・理由・制約の記録を優先する。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199632" y="3931920"/>
            <a:ext cx="5440680" cy="2148840"/>
          </a:xfrm>
          <a:prstGeom prst="roundRect">
            <a:avLst>
              <a:gd name="adj" fmla="val 3830"/>
            </a:avLst>
          </a:prstGeom>
          <a:solidFill>
            <a:srgbClr val="EEF3FB"/>
          </a:solidFill>
          <a:ln/>
          <a:effectLst>
            <a:outerShdw sx="100000" sy="100000" kx="0" ky="0" algn="bl" rotWithShape="0" blurRad="88900" dist="25400" dir="5400000">
              <a:srgbClr val="1E2761">
                <a:alpha val="2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55664" y="4187952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8801" y="4321089"/>
            <a:ext cx="245791" cy="245791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159752" y="4169664"/>
            <a:ext cx="4251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タイミングがなければ規約は死ぬ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7159752" y="4608576"/>
            <a:ext cx="4206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150" dirty="0">
                <a:solidFill>
                  <a:srgbClr val="2226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皆が理解していても誰もやらない — 「いつやるか」が定義されていないから。</a:t>
            </a:r>
            <a:endParaRPr lang="en-US" sz="1150" dirty="0"/>
          </a:p>
          <a:p>
            <a:pPr indent="0" marL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02C39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対策:  </a:t>
            </a:r>
            <a:pPr indent="0" marL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150" dirty="0">
                <a:solidFill>
                  <a:srgbClr val="5A61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全ルールを具体的タイミングに紐付け：打合せ後、セッション終了時、コミット前。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C39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ネクストステップ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どこから始めるか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801368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658368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25880" y="1783080"/>
            <a:ext cx="5577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チーム向け1ページ要約 — 五つのルールから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58368" y="2734056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" y="2715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25880" y="2715768"/>
            <a:ext cx="5577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AGENTS.mdテンプレート — そのままプロジェクトのリポジトリへ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58368" y="3666744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" y="36484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325880" y="3648456"/>
            <a:ext cx="5577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各種テンプレート：statusつき仕様ファイル、簡潔ADR、不明点リスト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58368" y="4599432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4" name="Text 12"/>
          <p:cNvSpPr/>
          <p:nvPr/>
        </p:nvSpPr>
        <p:spPr>
          <a:xfrm>
            <a:off x="658368" y="45811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325880" y="4581144"/>
            <a:ext cx="5577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実プロジェクトで試行 → 課題を記録 → 規約を更新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406640" y="1920240"/>
            <a:ext cx="4206240" cy="3108960"/>
          </a:xfrm>
          <a:prstGeom prst="roundRect">
            <a:avLst>
              <a:gd name="adj" fmla="val 2647"/>
            </a:avLst>
          </a:prstGeom>
          <a:solidFill>
            <a:srgbClr val="27336F"/>
          </a:solidFill>
          <a:ln/>
          <a:effectLst>
            <a:outerShdw sx="100000" sy="100000" kx="0" ky="0" algn="bl" rotWithShape="0" blurRad="88900" dist="25400" dir="5400000">
              <a:srgbClr val="1E2761">
                <a:alpha val="2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726680" y="2148840"/>
            <a:ext cx="36118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人間が決める。</a:t>
            </a:r>
            <a:endParaRPr lang="en-US" sz="26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2600" b="1" dirty="0">
                <a:solidFill>
                  <a:srgbClr val="02C39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AIが書く。</a:t>
            </a:r>
            <a:endParaRPr lang="en-US" sz="26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2600" b="1" dirty="0">
                <a:solidFill>
                  <a:srgbClr val="CADC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リポジトリが憶える。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58368" y="61264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詳細: docs/AiAssistant/AiAssistant.md   ·   議論・反論を歓迎します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2026-09-08T16:37:46Z</dcterms:created>
  <dcterms:modified xsi:type="dcterms:W3CDTF">2026-09-08T16:37:46Z</dcterms:modified>
</cp:coreProperties>
</file>